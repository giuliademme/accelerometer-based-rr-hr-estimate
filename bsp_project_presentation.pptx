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7"/>
  </p:notesMasterIdLst>
  <p:sldIdLst>
    <p:sldId id="256" r:id="rId2"/>
    <p:sldId id="289" r:id="rId3"/>
    <p:sldId id="292" r:id="rId4"/>
    <p:sldId id="283" r:id="rId5"/>
    <p:sldId id="293" r:id="rId6"/>
    <p:sldId id="295" r:id="rId7"/>
    <p:sldId id="296" r:id="rId8"/>
    <p:sldId id="297" r:id="rId9"/>
    <p:sldId id="298" r:id="rId10"/>
    <p:sldId id="287" r:id="rId11"/>
    <p:sldId id="299" r:id="rId12"/>
    <p:sldId id="301" r:id="rId13"/>
    <p:sldId id="300" r:id="rId14"/>
    <p:sldId id="30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B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7"/>
    <p:restoredTop sz="96296"/>
  </p:normalViewPr>
  <p:slideViewPr>
    <p:cSldViewPr snapToGrid="0">
      <p:cViewPr>
        <p:scale>
          <a:sx n="101" d="100"/>
          <a:sy n="101" d="100"/>
        </p:scale>
        <p:origin x="696" y="656"/>
      </p:cViewPr>
      <p:guideLst>
        <p:guide orient="horz" pos="2160"/>
        <p:guide pos="3840"/>
      </p:guideLst>
    </p:cSldViewPr>
  </p:slideViewPr>
  <p:notesTextViewPr>
    <p:cViewPr>
      <p:scale>
        <a:sx n="185" d="100"/>
        <a:sy n="185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66431-A702-BB43-AF7F-B25DED8F788D}" type="datetimeFigureOut">
              <a:rPr lang="it-IT" smtClean="0"/>
              <a:t>04/01/26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A1D9C-D89B-F04B-AC5D-CA20A065FBA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023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802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AEA0-C32F-BF3D-0A93-1C9799574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3BE6E91-AD24-A8F8-B762-301A01586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9CD5FFC-BCB3-83AF-11F8-1FD47CB5B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AF0B7FA-814B-FFDD-7595-06513F233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2797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25904-46A4-4613-992A-F523CCAF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7E8E6C7-AEB0-6DDF-04DC-B25DBF9C4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0C34F8-F943-A407-1FD7-651BAD1A2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3C8E3F-2A46-8CB8-82B5-7080C6C41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003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6A94-3048-6C42-CFA3-7BF3AC3A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4A8032B-524C-0A7D-550F-234BF2501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B5E3C3B-26CB-9D2F-5FD7-C56584F0B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426178-ED2A-4A26-5B10-E3695B5B5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6453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3CE2-2C0A-02BF-C71D-6DDBB3B7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AD2DB0-2D5A-C4A8-A12E-88DC304CB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DB8F89-B49B-6C21-AB1B-31C935DC1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9EB47C-A681-98E8-B81E-935DD3A5B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6777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F5AE-9E1D-5FC6-8068-3AB46369D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14A4526-A6F2-F829-AA5A-56573F4FF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0933281-4557-96BB-75C4-197E9A9B5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CE7976-C66B-145B-655B-96D05709E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7143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4F5B-A602-8647-B882-71BF929D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916A4F8-AC94-9FB9-3F32-EA43E32B2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7858A2-B034-09C9-9CAB-4BED5FA4A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5CC951-585E-7612-886F-8829425FC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3100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674D-DD20-127D-C941-3B0C196F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DC18BD7-36C3-AE61-6E77-A81D87C4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59B1B9F-64D4-EF51-6ACA-03FC7053D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72FC71-C3E7-16A9-D918-CCCDCAE76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11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83AD1-C2DB-D28B-ED79-2EF74B88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66F205-2109-C595-A964-A4B5F285D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B2582E9-65F0-95AC-0F2B-99F59CBD7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BE7370-04B7-3E13-B386-E72E7D801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7841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DB32-BA29-2048-761A-75919296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177A7B8-0AE0-6844-F1E6-95F344D14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F53E4DB-5F85-7E90-4EA0-35647A6E9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99522D-74F4-19C0-C54F-CCD1001B6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2539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64FA-9C21-DB44-7C20-642F1EF7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D3497E2-A708-B2F8-BA1E-0ACB65F77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5A4E036-0674-6EC3-D3CC-BFF071CC1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D5BC33-A97F-A28A-A615-950A71C71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6555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D936A-CA88-A2B7-C4CB-7E85410C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F54D59-48FC-BDD8-AB4F-11ECBF92D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39FEA9E-8038-493A-A605-B4410B349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6E5F7C-0CA7-B4FA-E3BD-9C0DAF229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238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71DA-5D9C-1C6B-CA7A-A1841B921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1F0FF2-5F8B-1419-FB08-CCBBC3493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5B6D3A6-5743-F789-0420-3B597E59E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D66F5C-BCF8-A97A-5165-7F70AFC51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6587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A1C56-7A52-95B4-2EB9-D1DF3A77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B32198A-4873-0333-2685-FAD6C0C8B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DA8311-39FC-E24A-9686-EBBFAAA73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0F2894-5F54-8F5B-7FD9-668D6B18F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A1D9C-D89B-F04B-AC5D-CA20A065FBA8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4124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796D-9092-2846-9A13-ED6979C1921F}" type="datetime1">
              <a:rPr lang="it-IT" smtClean="0"/>
              <a:t>04/01/26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2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40728-E202-D34A-9FB0-3B5BC383E7B3}" type="datetime1">
              <a:rPr lang="it-IT" smtClean="0"/>
              <a:t>04/01/26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591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618FB-1C0E-E040-9C93-55179B2FE687}" type="datetime1">
              <a:rPr lang="it-IT" smtClean="0"/>
              <a:t>04/01/26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563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24F5A-7F7A-DC4A-B80A-FD9846318B8D}" type="datetime1">
              <a:rPr lang="it-IT" smtClean="0"/>
              <a:t>04/01/26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535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2C07-A0A5-F843-8416-249C68F81692}" type="datetime1">
              <a:rPr lang="it-IT" smtClean="0"/>
              <a:t>04/01/26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316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817D-16D1-3648-8CA5-AE9527330166}" type="datetime1">
              <a:rPr lang="it-IT" smtClean="0"/>
              <a:t>04/01/26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085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4C95-7EFB-654C-BCB3-8C2432643AB1}" type="datetime1">
              <a:rPr lang="it-IT" smtClean="0"/>
              <a:t>04/01/26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766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CC8BA-0A18-9043-953E-5234C23BFA98}" type="datetime1">
              <a:rPr lang="it-IT" smtClean="0"/>
              <a:t>04/01/26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8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746A-0DC8-A042-98EA-160E24BA2C8C}" type="datetime1">
              <a:rPr lang="it-IT" smtClean="0"/>
              <a:t>04/01/26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836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1B6FA-684F-B448-A4C8-8FD4F210BB89}" type="datetime1">
              <a:rPr lang="it-IT" smtClean="0"/>
              <a:t>04/01/26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539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3E1C5-F48E-EC4E-A7B8-4AEB46626E8F}" type="datetime1">
              <a:rPr lang="it-IT" smtClean="0"/>
              <a:t>04/01/26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05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DAA99-1CA8-C240-83C7-51A5F1AE5161}" type="datetime1">
              <a:rPr lang="it-IT" smtClean="0"/>
              <a:t>04/01/26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Giulia Demme                    UNIVERSITA’ DEGLI STUDI DI MILANO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757A5-AD80-9848-86D8-F3899A56EB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9314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logo, Carattere&#10;&#10;Descrizione generata automaticamente">
            <a:extLst>
              <a:ext uri="{FF2B5EF4-FFF2-40B4-BE49-F238E27FC236}">
                <a16:creationId xmlns:a16="http://schemas.microsoft.com/office/drawing/2014/main" id="{A71EBBAB-C159-0662-C151-642E2A912B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69" t="68534" r="32353" b="2267"/>
          <a:stretch/>
        </p:blipFill>
        <p:spPr>
          <a:xfrm>
            <a:off x="8152070" y="5202238"/>
            <a:ext cx="4039930" cy="1655762"/>
          </a:xfrm>
          <a:prstGeom prst="rect">
            <a:avLst/>
          </a:prstGeom>
        </p:spPr>
      </p:pic>
      <p:sp>
        <p:nvSpPr>
          <p:cNvPr id="18" name="Dati 17">
            <a:extLst>
              <a:ext uri="{FF2B5EF4-FFF2-40B4-BE49-F238E27FC236}">
                <a16:creationId xmlns:a16="http://schemas.microsoft.com/office/drawing/2014/main" id="{E21696B3-918E-08F4-9388-EE76F3DFD5BF}"/>
              </a:ext>
            </a:extLst>
          </p:cNvPr>
          <p:cNvSpPr/>
          <p:nvPr/>
        </p:nvSpPr>
        <p:spPr>
          <a:xfrm>
            <a:off x="0" y="0"/>
            <a:ext cx="9951938" cy="687445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8087"/>
              <a:gd name="connsiteY0" fmla="*/ 10000 h 10000"/>
              <a:gd name="connsiteX1" fmla="*/ 87 w 8087"/>
              <a:gd name="connsiteY1" fmla="*/ 0 h 10000"/>
              <a:gd name="connsiteX2" fmla="*/ 8087 w 8087"/>
              <a:gd name="connsiteY2" fmla="*/ 0 h 10000"/>
              <a:gd name="connsiteX3" fmla="*/ 6087 w 8087"/>
              <a:gd name="connsiteY3" fmla="*/ 10000 h 10000"/>
              <a:gd name="connsiteX4" fmla="*/ 0 w 8087"/>
              <a:gd name="connsiteY4" fmla="*/ 10000 h 10000"/>
              <a:gd name="connsiteX0" fmla="*/ 3 w 9904"/>
              <a:gd name="connsiteY0" fmla="*/ 10024 h 10024"/>
              <a:gd name="connsiteX1" fmla="*/ 12 w 9904"/>
              <a:gd name="connsiteY1" fmla="*/ 0 h 10024"/>
              <a:gd name="connsiteX2" fmla="*/ 9904 w 9904"/>
              <a:gd name="connsiteY2" fmla="*/ 0 h 10024"/>
              <a:gd name="connsiteX3" fmla="*/ 7431 w 9904"/>
              <a:gd name="connsiteY3" fmla="*/ 10000 h 10024"/>
              <a:gd name="connsiteX4" fmla="*/ 3 w 9904"/>
              <a:gd name="connsiteY4" fmla="*/ 10024 h 1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" h="10024">
                <a:moveTo>
                  <a:pt x="3" y="10024"/>
                </a:moveTo>
                <a:cubicBezTo>
                  <a:pt x="39" y="6691"/>
                  <a:pt x="-24" y="3333"/>
                  <a:pt x="12" y="0"/>
                </a:cubicBezTo>
                <a:lnTo>
                  <a:pt x="9904" y="0"/>
                </a:lnTo>
                <a:lnTo>
                  <a:pt x="7431" y="10000"/>
                </a:lnTo>
                <a:lnTo>
                  <a:pt x="3" y="10024"/>
                </a:lnTo>
                <a:close/>
              </a:path>
            </a:pathLst>
          </a:custGeom>
          <a:blipFill dpi="0" rotWithShape="1">
            <a:blip r:embed="rId4">
              <a:alphaModFix amt="47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  <a14:imgEffect>
                        <a14:saturation sat="300000"/>
                      </a14:imgEffect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72689F0-AEB4-1575-331F-766C552E4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728" y="681644"/>
            <a:ext cx="7930342" cy="3325518"/>
          </a:xfrm>
        </p:spPr>
        <p:txBody>
          <a:bodyPr>
            <a:noAutofit/>
          </a:bodyPr>
          <a:lstStyle/>
          <a:p>
            <a:pPr algn="l"/>
            <a:r>
              <a:rPr lang="en-GB" noProof="1">
                <a:latin typeface="Garamond" panose="02020404030301010803" pitchFamily="18" charset="0"/>
                <a:ea typeface="Palatino" pitchFamily="2" charset="77"/>
              </a:rPr>
              <a:t>Accelerometer-based Respiratory Rate and Heart Rate Detection</a:t>
            </a:r>
            <a:endParaRPr lang="it-IT" dirty="0">
              <a:latin typeface="Garamond" panose="02020404030301010803" pitchFamily="18" charset="0"/>
              <a:ea typeface="Palatino" pitchFamily="2" charset="77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A81C591-114B-3DF8-A7DC-256891E88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728" y="5793206"/>
            <a:ext cx="5394479" cy="473825"/>
          </a:xfrm>
        </p:spPr>
        <p:txBody>
          <a:bodyPr>
            <a:normAutofit/>
          </a:bodyPr>
          <a:lstStyle/>
          <a:p>
            <a:r>
              <a:rPr lang="it-IT" dirty="0">
                <a:latin typeface="Lucida Bright" panose="02040602050505020304" pitchFamily="18" charset="77"/>
              </a:rPr>
              <a:t>Project by Giulia Demme, 60161A</a:t>
            </a:r>
          </a:p>
        </p:txBody>
      </p: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73FF13CD-870F-E4F4-109B-66365FF3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57A5-AD80-9848-86D8-F3899A56EB0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4972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310D-9D9E-9BA5-88F3-902A85E8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37A0A3-9C06-6094-EFF7-1E1675446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4" y="110253"/>
            <a:ext cx="7638143" cy="815399"/>
          </a:xfrm>
        </p:spPr>
        <p:txBody>
          <a:bodyPr>
            <a:normAutofit/>
          </a:bodyPr>
          <a:lstStyle/>
          <a:p>
            <a:r>
              <a:rPr lang="it-IT" sz="3600" dirty="0" err="1">
                <a:latin typeface="Garamond" panose="02020404030301010803" pitchFamily="18" charset="0"/>
              </a:rPr>
              <a:t>Overview</a:t>
            </a:r>
            <a:endParaRPr lang="it-IT" sz="3600" dirty="0">
              <a:latin typeface="Garamond" panose="02020404030301010803" pitchFamily="18" charset="0"/>
            </a:endParaRPr>
          </a:p>
        </p:txBody>
      </p: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82F22D09-FF95-8C92-32A5-BB00B7E65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sp>
        <p:nvSpPr>
          <p:cNvPr id="9" name="Segnaposto numero diapositiva 15">
            <a:extLst>
              <a:ext uri="{FF2B5EF4-FFF2-40B4-BE49-F238E27FC236}">
                <a16:creationId xmlns:a16="http://schemas.microsoft.com/office/drawing/2014/main" id="{B345D903-9024-BCE5-4E58-69F903D8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2217" y="63692"/>
            <a:ext cx="565266" cy="540051"/>
          </a:xfrm>
        </p:spPr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1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pic>
        <p:nvPicPr>
          <p:cNvPr id="4" name="Immagine 3" descr="Immagine che contiene schizzo, Line art, bianco, disegno&#10;&#10;Il contenuto generato dall'IA potrebbe non essere corretto.">
            <a:extLst>
              <a:ext uri="{FF2B5EF4-FFF2-40B4-BE49-F238E27FC236}">
                <a16:creationId xmlns:a16="http://schemas.microsoft.com/office/drawing/2014/main" id="{4DDED256-28D4-F9AE-D846-71BDE1FC2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690603"/>
            <a:ext cx="3101789" cy="251144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541FAE7-DC76-EB86-E6FE-AC02C6AD44C8}"/>
              </a:ext>
            </a:extLst>
          </p:cNvPr>
          <p:cNvSpPr txBox="1"/>
          <p:nvPr/>
        </p:nvSpPr>
        <p:spPr>
          <a:xfrm>
            <a:off x="247659" y="2213290"/>
            <a:ext cx="536076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Experimental</a:t>
            </a:r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</a:rPr>
              <a:t> Setup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iPhone 15 </a:t>
            </a:r>
            <a:r>
              <a:rPr lang="it-IT" sz="1400" dirty="0" err="1">
                <a:latin typeface="Lucida Bright" panose="02040602050505020304" pitchFamily="18" charset="77"/>
              </a:rPr>
              <a:t>accelerometer</a:t>
            </a:r>
            <a:r>
              <a:rPr lang="it-IT" sz="1400" dirty="0">
                <a:latin typeface="Lucida Bright" panose="02040602050505020304" pitchFamily="18" charset="77"/>
              </a:rPr>
              <a:t> (~100 Hz, Phyphox app)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Subject in supine position, smartphone on </a:t>
            </a:r>
            <a:r>
              <a:rPr lang="it-IT" sz="1400" dirty="0" err="1">
                <a:latin typeface="Lucida Bright" panose="02040602050505020304" pitchFamily="18" charset="77"/>
              </a:rPr>
              <a:t>chest</a:t>
            </a:r>
            <a:r>
              <a:rPr lang="it-IT" sz="1400" dirty="0">
                <a:latin typeface="Lucida Bright" panose="02040602050505020304" pitchFamily="18" charset="77"/>
              </a:rPr>
              <a:t> POS1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</a:t>
            </a:r>
            <a:r>
              <a:rPr lang="it-IT" sz="1400" dirty="0" err="1">
                <a:latin typeface="Lucida Bright" panose="02040602050505020304" pitchFamily="18" charset="77"/>
              </a:rPr>
              <a:t>Spontaneous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breathing</a:t>
            </a:r>
            <a:r>
              <a:rPr lang="it-IT" sz="1400" dirty="0">
                <a:latin typeface="Lucida Bright" panose="02040602050505020304" pitchFamily="18" charset="77"/>
              </a:rPr>
              <a:t> + 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</a:t>
            </a:r>
            <a:r>
              <a:rPr lang="it-IT" sz="1400" dirty="0" err="1">
                <a:latin typeface="Lucida Bright" panose="02040602050505020304" pitchFamily="18" charset="77"/>
              </a:rPr>
              <a:t>Controlled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breathing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at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predefined</a:t>
            </a:r>
            <a:r>
              <a:rPr lang="it-IT" sz="1400" dirty="0">
                <a:latin typeface="Lucida Bright" panose="02040602050505020304" pitchFamily="18" charset="77"/>
              </a:rPr>
              <a:t> frequencies</a:t>
            </a:r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2B55A711-CE85-3EAD-5209-2E96033BF7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8646" y="4762439"/>
            <a:ext cx="595124" cy="595124"/>
          </a:xfrm>
          <a:prstGeom prst="rect">
            <a:avLst/>
          </a:prstGeom>
        </p:spPr>
      </p:pic>
      <p:pic>
        <p:nvPicPr>
          <p:cNvPr id="12" name="Immagine 11" descr="Immagine che contiene arancione, Elementi grafici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66B12E78-2502-4F08-FF15-E603340B8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607" y="3685911"/>
            <a:ext cx="681809" cy="681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magine 13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12045DD6-D215-085F-FC0F-4055A83F43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098" y="3690602"/>
            <a:ext cx="3753670" cy="2511449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B3CBCB29-B505-D887-5A07-D5AADC9F7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652610">
            <a:off x="8518966" y="4478232"/>
            <a:ext cx="595124" cy="595124"/>
          </a:xfrm>
          <a:prstGeom prst="rect">
            <a:avLst/>
          </a:pr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0F6B2F80-36B6-BE3B-031F-ED3CDD8BB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794842">
            <a:off x="8521457" y="4889005"/>
            <a:ext cx="595124" cy="595124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4A8A6B2-4EF3-492B-4DC1-3242D1CAEE1E}"/>
              </a:ext>
            </a:extLst>
          </p:cNvPr>
          <p:cNvSpPr txBox="1"/>
          <p:nvPr/>
        </p:nvSpPr>
        <p:spPr>
          <a:xfrm>
            <a:off x="9110506" y="4293778"/>
            <a:ext cx="2754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Lucida Bright" panose="02040602050505020304" pitchFamily="18" charset="77"/>
              </a:rPr>
              <a:t>Respiration</a:t>
            </a:r>
            <a:r>
              <a:rPr lang="it-IT" sz="1600" dirty="0">
                <a:latin typeface="Lucida Bright" panose="02040602050505020304" pitchFamily="18" charset="77"/>
              </a:rPr>
              <a:t> Rate Estimate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2225588-EFF6-196D-F62F-9227B72FAA7C}"/>
              </a:ext>
            </a:extLst>
          </p:cNvPr>
          <p:cNvSpPr txBox="1"/>
          <p:nvPr/>
        </p:nvSpPr>
        <p:spPr>
          <a:xfrm>
            <a:off x="9110506" y="5334487"/>
            <a:ext cx="2159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Lucida Bright" panose="02040602050505020304" pitchFamily="18" charset="77"/>
              </a:rPr>
              <a:t>Heart Rate Estimate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6EEA580-D468-AB15-7D90-7613D2C89BFD}"/>
              </a:ext>
            </a:extLst>
          </p:cNvPr>
          <p:cNvSpPr txBox="1"/>
          <p:nvPr/>
        </p:nvSpPr>
        <p:spPr>
          <a:xfrm>
            <a:off x="247659" y="935861"/>
            <a:ext cx="60198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Motivation</a:t>
            </a:r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</a:rPr>
              <a:t> &amp; </a:t>
            </a:r>
            <a:r>
              <a:rPr lang="it-IT" sz="1400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Objective</a:t>
            </a:r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</a:rPr>
              <a:t> 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</a:t>
            </a:r>
            <a:r>
              <a:rPr lang="it-IT" sz="1400" dirty="0" err="1">
                <a:latin typeface="Lucida Bright" panose="02040602050505020304" pitchFamily="18" charset="77"/>
              </a:rPr>
              <a:t>Respiratory</a:t>
            </a:r>
            <a:r>
              <a:rPr lang="it-IT" sz="1400" dirty="0">
                <a:latin typeface="Lucida Bright" panose="02040602050505020304" pitchFamily="18" charset="77"/>
              </a:rPr>
              <a:t> and Heart Rate are key </a:t>
            </a:r>
            <a:r>
              <a:rPr lang="it-IT" sz="1400" dirty="0" err="1">
                <a:latin typeface="Lucida Bright" panose="02040602050505020304" pitchFamily="18" charset="77"/>
              </a:rPr>
              <a:t>vital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signs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Simple </a:t>
            </a:r>
            <a:r>
              <a:rPr lang="it-IT" sz="1400" dirty="0" err="1">
                <a:latin typeface="Lucida Bright" panose="02040602050505020304" pitchFamily="18" charset="77"/>
              </a:rPr>
              <a:t>estimation</a:t>
            </a:r>
            <a:r>
              <a:rPr lang="it-IT" sz="1400" dirty="0">
                <a:latin typeface="Lucida Bright" panose="02040602050505020304" pitchFamily="18" charset="77"/>
              </a:rPr>
              <a:t> using a </a:t>
            </a:r>
            <a:r>
              <a:rPr lang="it-IT" sz="1400" dirty="0" err="1">
                <a:latin typeface="Lucida Bright" panose="02040602050505020304" pitchFamily="18" charset="77"/>
              </a:rPr>
              <a:t>smartphone’s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triaxial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accelerometer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	Non-invasive monitoring</a:t>
            </a:r>
          </a:p>
        </p:txBody>
      </p:sp>
      <p:cxnSp>
        <p:nvCxnSpPr>
          <p:cNvPr id="22" name="Connettore 1 9">
            <a:extLst>
              <a:ext uri="{FF2B5EF4-FFF2-40B4-BE49-F238E27FC236}">
                <a16:creationId xmlns:a16="http://schemas.microsoft.com/office/drawing/2014/main" id="{1B29B6AE-A016-790E-2F57-C53EE7DB36E5}"/>
              </a:ext>
            </a:extLst>
          </p:cNvPr>
          <p:cNvCxnSpPr>
            <a:cxnSpLocks/>
          </p:cNvCxnSpPr>
          <p:nvPr/>
        </p:nvCxnSpPr>
        <p:spPr>
          <a:xfrm flipV="1">
            <a:off x="6739355" y="910166"/>
            <a:ext cx="5248206" cy="10865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019ABD9-D30B-2DFF-8E77-10116D5C990A}"/>
              </a:ext>
            </a:extLst>
          </p:cNvPr>
          <p:cNvSpPr txBox="1"/>
          <p:nvPr/>
        </p:nvSpPr>
        <p:spPr>
          <a:xfrm>
            <a:off x="6724258" y="951100"/>
            <a:ext cx="944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chemeClr val="bg1">
                    <a:lumMod val="20000"/>
                    <a:lumOff val="80000"/>
                  </a:schemeClr>
                </a:solidFill>
                <a:latin typeface="Lucida Bright" panose="02040602050505020304" pitchFamily="18" charset="77"/>
              </a:rPr>
              <a:t>Subjects</a:t>
            </a:r>
            <a:endParaRPr lang="it-IT" sz="1400" dirty="0">
              <a:solidFill>
                <a:schemeClr val="bg1">
                  <a:lumMod val="20000"/>
                  <a:lumOff val="80000"/>
                </a:schemeClr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24" name="Connettore 1 11">
            <a:extLst>
              <a:ext uri="{FF2B5EF4-FFF2-40B4-BE49-F238E27FC236}">
                <a16:creationId xmlns:a16="http://schemas.microsoft.com/office/drawing/2014/main" id="{04D755B4-6C2C-F5F2-4332-6E3D900DB238}"/>
              </a:ext>
            </a:extLst>
          </p:cNvPr>
          <p:cNvCxnSpPr>
            <a:cxnSpLocks/>
          </p:cNvCxnSpPr>
          <p:nvPr/>
        </p:nvCxnSpPr>
        <p:spPr>
          <a:xfrm>
            <a:off x="6748335" y="1398625"/>
            <a:ext cx="5239226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697A30F-008E-15F8-9CCA-41C793071B4D}"/>
              </a:ext>
            </a:extLst>
          </p:cNvPr>
          <p:cNvSpPr txBox="1"/>
          <p:nvPr/>
        </p:nvSpPr>
        <p:spPr>
          <a:xfrm>
            <a:off x="6682171" y="1473116"/>
            <a:ext cx="1268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7FB8E9"/>
                </a:solidFill>
                <a:latin typeface="Lucida Bright" panose="02040602050505020304" pitchFamily="18" charset="77"/>
              </a:rPr>
              <a:t>Acquisitions</a:t>
            </a:r>
            <a:endParaRPr lang="it-IT" sz="1400" dirty="0">
              <a:solidFill>
                <a:srgbClr val="7FB8E9"/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26" name="Connettore 1 15">
            <a:extLst>
              <a:ext uri="{FF2B5EF4-FFF2-40B4-BE49-F238E27FC236}">
                <a16:creationId xmlns:a16="http://schemas.microsoft.com/office/drawing/2014/main" id="{6D897E6D-16B9-9C29-F004-08CFB609C662}"/>
              </a:ext>
            </a:extLst>
          </p:cNvPr>
          <p:cNvCxnSpPr>
            <a:cxnSpLocks/>
          </p:cNvCxnSpPr>
          <p:nvPr/>
        </p:nvCxnSpPr>
        <p:spPr>
          <a:xfrm>
            <a:off x="6739353" y="1929483"/>
            <a:ext cx="5248208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FB70CCD-5659-9E48-9FF4-CFFE62177429}"/>
              </a:ext>
            </a:extLst>
          </p:cNvPr>
          <p:cNvSpPr txBox="1"/>
          <p:nvPr/>
        </p:nvSpPr>
        <p:spPr>
          <a:xfrm>
            <a:off x="6672320" y="2016960"/>
            <a:ext cx="1992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7FB8E9"/>
                </a:solidFill>
                <a:latin typeface="Lucida Bright" panose="02040602050505020304" pitchFamily="18" charset="77"/>
              </a:rPr>
              <a:t>Breathing</a:t>
            </a:r>
            <a:r>
              <a:rPr lang="it-IT" sz="1400" dirty="0">
                <a:solidFill>
                  <a:srgbClr val="7FB8E9"/>
                </a:solidFill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solidFill>
                  <a:srgbClr val="7FB8E9"/>
                </a:solidFill>
                <a:latin typeface="Lucida Bright" panose="02040602050505020304" pitchFamily="18" charset="77"/>
              </a:rPr>
              <a:t>conditions</a:t>
            </a:r>
            <a:endParaRPr lang="it-IT" sz="1400" dirty="0">
              <a:solidFill>
                <a:srgbClr val="7FB8E9"/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28" name="Connettore 1 18">
            <a:extLst>
              <a:ext uri="{FF2B5EF4-FFF2-40B4-BE49-F238E27FC236}">
                <a16:creationId xmlns:a16="http://schemas.microsoft.com/office/drawing/2014/main" id="{9CA024B0-1080-45C3-56A4-852C05CFC9ED}"/>
              </a:ext>
            </a:extLst>
          </p:cNvPr>
          <p:cNvCxnSpPr>
            <a:cxnSpLocks/>
          </p:cNvCxnSpPr>
          <p:nvPr/>
        </p:nvCxnSpPr>
        <p:spPr>
          <a:xfrm flipV="1">
            <a:off x="6748335" y="3387256"/>
            <a:ext cx="5239226" cy="1799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28F760C-14F8-1F66-FA0A-F774AD9183BA}"/>
              </a:ext>
            </a:extLst>
          </p:cNvPr>
          <p:cNvSpPr txBox="1"/>
          <p:nvPr/>
        </p:nvSpPr>
        <p:spPr>
          <a:xfrm>
            <a:off x="8575965" y="955349"/>
            <a:ext cx="3046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3</a:t>
            </a:r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solidFill>
                  <a:schemeClr val="tx1"/>
                </a:solidFill>
                <a:latin typeface="Lucida Bright" panose="02040602050505020304" pitchFamily="18" charset="77"/>
              </a:rPr>
              <a:t>healthy</a:t>
            </a:r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solidFill>
                  <a:schemeClr val="tx1"/>
                </a:solidFill>
                <a:latin typeface="Lucida Bright" panose="02040602050505020304" pitchFamily="18" charset="77"/>
              </a:rPr>
              <a:t>subjects</a:t>
            </a:r>
            <a:endParaRPr lang="it-IT" sz="1400" dirty="0">
              <a:solidFill>
                <a:schemeClr val="tx1"/>
              </a:solidFill>
              <a:latin typeface="Lucida Bright" panose="02040602050505020304" pitchFamily="18" charset="77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50B6FB1-94A9-7EBB-7D19-DEAAB2E5E17C}"/>
              </a:ext>
            </a:extLst>
          </p:cNvPr>
          <p:cNvSpPr txBox="1"/>
          <p:nvPr/>
        </p:nvSpPr>
        <p:spPr>
          <a:xfrm>
            <a:off x="8575964" y="1406263"/>
            <a:ext cx="30461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5 recordings per subject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Total: 15 recordings </a:t>
            </a:r>
            <a:endParaRPr lang="it-IT" sz="1400" dirty="0">
              <a:solidFill>
                <a:schemeClr val="tx1"/>
              </a:solidFill>
              <a:latin typeface="Lucida Bright" panose="02040602050505020304" pitchFamily="18" charset="77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8EBD5F8-9577-9AD9-5FEB-5222CE27574B}"/>
              </a:ext>
            </a:extLst>
          </p:cNvPr>
          <p:cNvSpPr txBox="1"/>
          <p:nvPr/>
        </p:nvSpPr>
        <p:spPr>
          <a:xfrm>
            <a:off x="8575965" y="2016960"/>
            <a:ext cx="51351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5 </a:t>
            </a:r>
            <a:r>
              <a:rPr lang="it-IT" sz="1400" dirty="0" err="1">
                <a:solidFill>
                  <a:schemeClr val="tx1"/>
                </a:solidFill>
                <a:latin typeface="Lucida Bright" panose="02040602050505020304" pitchFamily="18" charset="77"/>
              </a:rPr>
              <a:t>breathing</a:t>
            </a:r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solidFill>
                  <a:schemeClr val="tx1"/>
                </a:solidFill>
                <a:latin typeface="Lucida Bright" panose="02040602050505020304" pitchFamily="18" charset="77"/>
              </a:rPr>
              <a:t>conditions</a:t>
            </a:r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: 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</a:t>
            </a:r>
            <a:r>
              <a:rPr lang="it-IT" sz="1400" dirty="0" err="1">
                <a:latin typeface="Lucida Bright" panose="02040602050505020304" pitchFamily="18" charset="77"/>
              </a:rPr>
              <a:t>Spontaneous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breathing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	Slow </a:t>
            </a:r>
            <a:r>
              <a:rPr lang="it-IT" sz="1400" dirty="0" err="1">
                <a:latin typeface="Lucida Bright" panose="02040602050505020304" pitchFamily="18" charset="77"/>
              </a:rPr>
              <a:t>b</a:t>
            </a:r>
            <a:r>
              <a:rPr lang="it-IT" sz="1400" dirty="0" err="1">
                <a:solidFill>
                  <a:schemeClr val="tx1"/>
                </a:solidFill>
                <a:latin typeface="Lucida Bright" panose="02040602050505020304" pitchFamily="18" charset="77"/>
              </a:rPr>
              <a:t>reathing</a:t>
            </a:r>
            <a:endParaRPr lang="it-IT" sz="1400" dirty="0">
              <a:solidFill>
                <a:schemeClr val="tx1"/>
              </a:solidFill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	Fast </a:t>
            </a:r>
            <a:r>
              <a:rPr lang="it-IT" sz="1400" dirty="0" err="1">
                <a:latin typeface="Lucida Bright" panose="02040602050505020304" pitchFamily="18" charset="77"/>
              </a:rPr>
              <a:t>breathing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</a:p>
          <a:p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	</a:t>
            </a:r>
            <a:r>
              <a:rPr lang="it-IT" sz="1400" dirty="0" err="1">
                <a:latin typeface="Lucida Bright" panose="02040602050505020304" pitchFamily="18" charset="77"/>
              </a:rPr>
              <a:t>B</a:t>
            </a:r>
            <a:r>
              <a:rPr lang="it-IT" sz="1400" dirty="0" err="1">
                <a:solidFill>
                  <a:schemeClr val="tx1"/>
                </a:solidFill>
                <a:latin typeface="Lucida Bright" panose="02040602050505020304" pitchFamily="18" charset="77"/>
              </a:rPr>
              <a:t>reathing</a:t>
            </a:r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 with apnea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</a:t>
            </a:r>
            <a:r>
              <a:rPr lang="it-IT" sz="1400" dirty="0" err="1">
                <a:latin typeface="Lucida Bright" panose="02040602050505020304" pitchFamily="18" charset="77"/>
              </a:rPr>
              <a:t>Breathing</a:t>
            </a:r>
            <a:r>
              <a:rPr lang="it-IT" sz="1400" dirty="0">
                <a:latin typeface="Lucida Bright" panose="02040602050505020304" pitchFamily="18" charset="77"/>
              </a:rPr>
              <a:t> with small </a:t>
            </a:r>
            <a:r>
              <a:rPr lang="it-IT" sz="1400" dirty="0" err="1">
                <a:latin typeface="Lucida Bright" panose="02040602050505020304" pitchFamily="18" charset="77"/>
              </a:rPr>
              <a:t>movement</a:t>
            </a:r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 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E56EBDE3-F9E9-8068-2A42-68ED727E0194}"/>
              </a:ext>
            </a:extLst>
          </p:cNvPr>
          <p:cNvSpPr txBox="1"/>
          <p:nvPr/>
        </p:nvSpPr>
        <p:spPr>
          <a:xfrm>
            <a:off x="6739353" y="602389"/>
            <a:ext cx="858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</a:rPr>
              <a:t>Dataset</a:t>
            </a:r>
            <a:endParaRPr lang="it-IT" sz="1400" dirty="0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6F8CB78A-3B43-2883-7C01-2050595A4AE4}"/>
              </a:ext>
            </a:extLst>
          </p:cNvPr>
          <p:cNvSpPr txBox="1"/>
          <p:nvPr/>
        </p:nvSpPr>
        <p:spPr>
          <a:xfrm>
            <a:off x="4681341" y="6144711"/>
            <a:ext cx="3256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../data/person2/person2_spontaneous.csv</a:t>
            </a:r>
          </a:p>
        </p:txBody>
      </p:sp>
    </p:spTree>
    <p:extLst>
      <p:ext uri="{BB962C8B-B14F-4D97-AF65-F5344CB8AC3E}">
        <p14:creationId xmlns:p14="http://schemas.microsoft.com/office/powerpoint/2010/main" val="566344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2A3E-45E9-DCCF-93B2-B3F3BD632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C872870D-C286-A724-4CF5-81FADCE18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1121" y="2776232"/>
            <a:ext cx="365125" cy="365125"/>
          </a:xfrm>
          <a:prstGeom prst="rect">
            <a:avLst/>
          </a:prstGeom>
        </p:spPr>
      </p:pic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F8BC9214-8111-1F8A-1B64-1338E2946B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10EA492B-4D0D-7EC7-C9EE-3B9C2E7A9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4" y="110253"/>
            <a:ext cx="7638143" cy="815399"/>
          </a:xfrm>
        </p:spPr>
        <p:txBody>
          <a:bodyPr>
            <a:normAutofit/>
          </a:bodyPr>
          <a:lstStyle/>
          <a:p>
            <a:r>
              <a:rPr lang="it-IT" sz="3600" dirty="0" err="1">
                <a:latin typeface="Garamond" panose="02020404030301010803" pitchFamily="18" charset="0"/>
              </a:rPr>
              <a:t>Preprocessing</a:t>
            </a:r>
            <a:endParaRPr lang="it-IT" sz="3600" dirty="0">
              <a:latin typeface="Garamond" panose="02020404030301010803" pitchFamily="18" charset="0"/>
            </a:endParaRPr>
          </a:p>
        </p:txBody>
      </p:sp>
      <p:sp>
        <p:nvSpPr>
          <p:cNvPr id="14" name="Segnaposto numero diapositiva 15">
            <a:extLst>
              <a:ext uri="{FF2B5EF4-FFF2-40B4-BE49-F238E27FC236}">
                <a16:creationId xmlns:a16="http://schemas.microsoft.com/office/drawing/2014/main" id="{7B423006-728F-579D-7B11-B5E54FF4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2217" y="63692"/>
            <a:ext cx="565266" cy="540051"/>
          </a:xfrm>
        </p:spPr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2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pic>
        <p:nvPicPr>
          <p:cNvPr id="17" name="Immagine 16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F8FB4D3D-B671-4F59-A014-DE0AE8023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8746" y="1799278"/>
            <a:ext cx="3843244" cy="2571379"/>
          </a:xfrm>
          <a:prstGeom prst="rect">
            <a:avLst/>
          </a:prstGeom>
        </p:spPr>
      </p:pic>
      <p:pic>
        <p:nvPicPr>
          <p:cNvPr id="30" name="Immagine 29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DF65222C-A420-0DD8-8FAB-0B2C07616A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0742" y="1799277"/>
            <a:ext cx="3843244" cy="2571379"/>
          </a:xfrm>
          <a:prstGeom prst="rect">
            <a:avLst/>
          </a:prstGeom>
        </p:spPr>
      </p:pic>
      <p:pic>
        <p:nvPicPr>
          <p:cNvPr id="32" name="Immagine 31" descr="Immagine che contiene testo, line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B57D6FA9-D20E-B03E-2090-FEC44DD842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3442" y="1799276"/>
            <a:ext cx="3888945" cy="2571379"/>
          </a:xfrm>
          <a:prstGeom prst="rect">
            <a:avLst/>
          </a:prstGeom>
        </p:spPr>
      </p:pic>
      <p:pic>
        <p:nvPicPr>
          <p:cNvPr id="33" name="Elemento grafico 32">
            <a:extLst>
              <a:ext uri="{FF2B5EF4-FFF2-40B4-BE49-F238E27FC236}">
                <a16:creationId xmlns:a16="http://schemas.microsoft.com/office/drawing/2014/main" id="{B8DFD97F-266A-DA5E-BB56-63D18078F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2305" y="2776232"/>
            <a:ext cx="365125" cy="365125"/>
          </a:xfrm>
          <a:prstGeom prst="rect">
            <a:avLst/>
          </a:prstGeom>
        </p:spPr>
      </p:pic>
      <p:sp>
        <p:nvSpPr>
          <p:cNvPr id="34" name="Segnaposto piè di pagina 3">
            <a:extLst>
              <a:ext uri="{FF2B5EF4-FFF2-40B4-BE49-F238E27FC236}">
                <a16:creationId xmlns:a16="http://schemas.microsoft.com/office/drawing/2014/main" id="{6CF7883A-12FC-49EE-79A7-A2E5F0E1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cxnSp>
        <p:nvCxnSpPr>
          <p:cNvPr id="40" name="Connettore 1 15">
            <a:extLst>
              <a:ext uri="{FF2B5EF4-FFF2-40B4-BE49-F238E27FC236}">
                <a16:creationId xmlns:a16="http://schemas.microsoft.com/office/drawing/2014/main" id="{57B00FBB-A3C3-378C-142E-C56452744174}"/>
              </a:ext>
            </a:extLst>
          </p:cNvPr>
          <p:cNvCxnSpPr>
            <a:cxnSpLocks/>
          </p:cNvCxnSpPr>
          <p:nvPr/>
        </p:nvCxnSpPr>
        <p:spPr>
          <a:xfrm>
            <a:off x="142614" y="5031910"/>
            <a:ext cx="3671884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EE53F1B-CE76-F9E7-BC1A-2A69A1FB6F94}"/>
              </a:ext>
            </a:extLst>
          </p:cNvPr>
          <p:cNvSpPr txBox="1"/>
          <p:nvPr/>
        </p:nvSpPr>
        <p:spPr>
          <a:xfrm>
            <a:off x="75580" y="5064956"/>
            <a:ext cx="150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rgbClr val="7FB8E9"/>
                </a:solidFill>
                <a:latin typeface="Lucida Bright" panose="02040602050505020304" pitchFamily="18" charset="77"/>
              </a:rPr>
              <a:t>Characteristics</a:t>
            </a:r>
            <a:endParaRPr lang="it-IT" sz="1400" dirty="0">
              <a:solidFill>
                <a:srgbClr val="7FB8E9"/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42" name="Connettore 1 18">
            <a:extLst>
              <a:ext uri="{FF2B5EF4-FFF2-40B4-BE49-F238E27FC236}">
                <a16:creationId xmlns:a16="http://schemas.microsoft.com/office/drawing/2014/main" id="{EF3A65F6-3B42-A019-3D6F-A38758861348}"/>
              </a:ext>
            </a:extLst>
          </p:cNvPr>
          <p:cNvCxnSpPr>
            <a:cxnSpLocks/>
          </p:cNvCxnSpPr>
          <p:nvPr/>
        </p:nvCxnSpPr>
        <p:spPr>
          <a:xfrm>
            <a:off x="151596" y="6236340"/>
            <a:ext cx="366290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168CB147-97FF-8C24-98C5-B072B6977565}"/>
              </a:ext>
            </a:extLst>
          </p:cNvPr>
          <p:cNvSpPr txBox="1"/>
          <p:nvPr/>
        </p:nvSpPr>
        <p:spPr>
          <a:xfrm>
            <a:off x="1531488" y="5064956"/>
            <a:ext cx="25347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Different </a:t>
            </a:r>
            <a:r>
              <a:rPr lang="it-IT" sz="1400" dirty="0" err="1">
                <a:latin typeface="Lucida Bright" panose="02040602050505020304" pitchFamily="18" charset="77"/>
              </a:rPr>
              <a:t>offsets</a:t>
            </a:r>
            <a:r>
              <a:rPr lang="it-IT" sz="1400" dirty="0">
                <a:latin typeface="Lucida Bright" panose="02040602050505020304" pitchFamily="18" charset="77"/>
              </a:rPr>
              <a:t> and </a:t>
            </a:r>
            <a:r>
              <a:rPr lang="it-IT" sz="1400" dirty="0" err="1">
                <a:latin typeface="Lucida Bright" panose="02040602050505020304" pitchFamily="18" charset="77"/>
              </a:rPr>
              <a:t>amplitudes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across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axes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 err="1">
                <a:latin typeface="Lucida Bright" panose="02040602050505020304" pitchFamily="18" charset="77"/>
              </a:rPr>
              <a:t>Z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axis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dominated</a:t>
            </a:r>
            <a:r>
              <a:rPr lang="it-IT" sz="1400" dirty="0">
                <a:latin typeface="Lucida Bright" panose="02040602050505020304" pitchFamily="18" charset="77"/>
              </a:rPr>
              <a:t> by </a:t>
            </a:r>
            <a:r>
              <a:rPr lang="it-IT" sz="1400" dirty="0" err="1">
                <a:latin typeface="Lucida Bright" panose="02040602050505020304" pitchFamily="18" charset="77"/>
              </a:rPr>
              <a:t>gravity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Start/end </a:t>
            </a:r>
            <a:r>
              <a:rPr lang="it-IT" sz="1400" dirty="0" err="1">
                <a:latin typeface="Lucida Bright" panose="02040602050505020304" pitchFamily="18" charset="77"/>
              </a:rPr>
              <a:t>transients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DD34D138-B562-2EAC-291D-0EA05160D1CF}"/>
              </a:ext>
            </a:extLst>
          </p:cNvPr>
          <p:cNvSpPr txBox="1"/>
          <p:nvPr/>
        </p:nvSpPr>
        <p:spPr>
          <a:xfrm>
            <a:off x="127519" y="4639274"/>
            <a:ext cx="24601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</a:rPr>
              <a:t>Raw </a:t>
            </a:r>
            <a:r>
              <a:rPr lang="it-IT" sz="1400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accelerometric</a:t>
            </a:r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</a:rPr>
              <a:t> signal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3178D71F-A6E7-F6F9-B4D1-6E0434C93272}"/>
              </a:ext>
            </a:extLst>
          </p:cNvPr>
          <p:cNvSpPr txBox="1"/>
          <p:nvPr/>
        </p:nvSpPr>
        <p:spPr>
          <a:xfrm>
            <a:off x="4146246" y="4635945"/>
            <a:ext cx="24601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Trimming</a:t>
            </a:r>
            <a:endParaRPr lang="it-IT" sz="1400" dirty="0">
              <a:solidFill>
                <a:schemeClr val="accent4"/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65" name="Connettore 1 15">
            <a:extLst>
              <a:ext uri="{FF2B5EF4-FFF2-40B4-BE49-F238E27FC236}">
                <a16:creationId xmlns:a16="http://schemas.microsoft.com/office/drawing/2014/main" id="{ACFE62FA-8B3E-23D3-39EB-998ABECED581}"/>
              </a:ext>
            </a:extLst>
          </p:cNvPr>
          <p:cNvCxnSpPr>
            <a:cxnSpLocks/>
          </p:cNvCxnSpPr>
          <p:nvPr/>
        </p:nvCxnSpPr>
        <p:spPr>
          <a:xfrm flipV="1">
            <a:off x="4174482" y="5013300"/>
            <a:ext cx="4128960" cy="9646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BC277EB1-2BE0-D663-4EBB-7F734DE24EE6}"/>
              </a:ext>
            </a:extLst>
          </p:cNvPr>
          <p:cNvSpPr txBox="1"/>
          <p:nvPr/>
        </p:nvSpPr>
        <p:spPr>
          <a:xfrm>
            <a:off x="4107448" y="5055992"/>
            <a:ext cx="150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rgbClr val="7FB8E9"/>
                </a:solidFill>
                <a:latin typeface="Lucida Bright" panose="02040602050505020304" pitchFamily="18" charset="77"/>
              </a:rPr>
              <a:t>Characteristics</a:t>
            </a:r>
            <a:endParaRPr lang="it-IT" sz="1400" dirty="0">
              <a:solidFill>
                <a:srgbClr val="7FB8E9"/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67" name="Connettore 1 18">
            <a:extLst>
              <a:ext uri="{FF2B5EF4-FFF2-40B4-BE49-F238E27FC236}">
                <a16:creationId xmlns:a16="http://schemas.microsoft.com/office/drawing/2014/main" id="{C6A6D346-9871-F02A-7E78-452568EE39ED}"/>
              </a:ext>
            </a:extLst>
          </p:cNvPr>
          <p:cNvCxnSpPr>
            <a:cxnSpLocks/>
          </p:cNvCxnSpPr>
          <p:nvPr/>
        </p:nvCxnSpPr>
        <p:spPr>
          <a:xfrm>
            <a:off x="4183464" y="6209448"/>
            <a:ext cx="4133966" cy="7131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D774A45F-1F3D-0ACC-5129-35CBADE53A4D}"/>
              </a:ext>
            </a:extLst>
          </p:cNvPr>
          <p:cNvSpPr txBox="1"/>
          <p:nvPr/>
        </p:nvSpPr>
        <p:spPr>
          <a:xfrm>
            <a:off x="5563356" y="5055992"/>
            <a:ext cx="27140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Fixed 60s window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60s * 99.7Hz = 5982 samples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Central segment of the recording</a:t>
            </a:r>
          </a:p>
          <a:p>
            <a:r>
              <a:rPr lang="it-IT" sz="1400" dirty="0" err="1">
                <a:latin typeface="Lucida Bright" panose="02040602050505020304" pitchFamily="18" charset="77"/>
              </a:rPr>
              <a:t>Removes</a:t>
            </a:r>
            <a:r>
              <a:rPr lang="it-IT" sz="1400" dirty="0">
                <a:latin typeface="Lucida Bright" panose="02040602050505020304" pitchFamily="18" charset="77"/>
              </a:rPr>
              <a:t> start/end artifacts 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7A6FF3FF-D31C-D37D-7EA4-A5ED873A3754}"/>
              </a:ext>
            </a:extLst>
          </p:cNvPr>
          <p:cNvSpPr txBox="1"/>
          <p:nvPr/>
        </p:nvSpPr>
        <p:spPr>
          <a:xfrm>
            <a:off x="8384510" y="4626299"/>
            <a:ext cx="24601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Normalization</a:t>
            </a:r>
            <a:endParaRPr lang="it-IT" sz="1400" dirty="0">
              <a:solidFill>
                <a:schemeClr val="accent4"/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79" name="Connettore 1 15">
            <a:extLst>
              <a:ext uri="{FF2B5EF4-FFF2-40B4-BE49-F238E27FC236}">
                <a16:creationId xmlns:a16="http://schemas.microsoft.com/office/drawing/2014/main" id="{CFCE621E-8575-EC88-B3FE-22894F86504F}"/>
              </a:ext>
            </a:extLst>
          </p:cNvPr>
          <p:cNvCxnSpPr>
            <a:cxnSpLocks/>
          </p:cNvCxnSpPr>
          <p:nvPr/>
        </p:nvCxnSpPr>
        <p:spPr>
          <a:xfrm>
            <a:off x="8412746" y="5013300"/>
            <a:ext cx="3671884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E2A1E1CF-8A54-BA4C-2541-051397624CFA}"/>
              </a:ext>
            </a:extLst>
          </p:cNvPr>
          <p:cNvSpPr txBox="1"/>
          <p:nvPr/>
        </p:nvSpPr>
        <p:spPr>
          <a:xfrm>
            <a:off x="8345712" y="5046346"/>
            <a:ext cx="150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rgbClr val="7FB8E9"/>
                </a:solidFill>
                <a:latin typeface="Lucida Bright" panose="02040602050505020304" pitchFamily="18" charset="77"/>
              </a:rPr>
              <a:t>Characteristics</a:t>
            </a:r>
            <a:endParaRPr lang="it-IT" sz="1400" dirty="0">
              <a:solidFill>
                <a:srgbClr val="7FB8E9"/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81" name="Connettore 1 18">
            <a:extLst>
              <a:ext uri="{FF2B5EF4-FFF2-40B4-BE49-F238E27FC236}">
                <a16:creationId xmlns:a16="http://schemas.microsoft.com/office/drawing/2014/main" id="{F59AA3EA-AF81-920C-427D-21FDB8375CC1}"/>
              </a:ext>
            </a:extLst>
          </p:cNvPr>
          <p:cNvCxnSpPr>
            <a:cxnSpLocks/>
          </p:cNvCxnSpPr>
          <p:nvPr/>
        </p:nvCxnSpPr>
        <p:spPr>
          <a:xfrm>
            <a:off x="8421728" y="6217730"/>
            <a:ext cx="366290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asellaDiTesto 83">
            <a:extLst>
              <a:ext uri="{FF2B5EF4-FFF2-40B4-BE49-F238E27FC236}">
                <a16:creationId xmlns:a16="http://schemas.microsoft.com/office/drawing/2014/main" id="{3D3B40B8-E857-C4E8-5103-61432284C414}"/>
              </a:ext>
            </a:extLst>
          </p:cNvPr>
          <p:cNvSpPr txBox="1"/>
          <p:nvPr/>
        </p:nvSpPr>
        <p:spPr>
          <a:xfrm>
            <a:off x="9801620" y="5046346"/>
            <a:ext cx="25347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Fixed 60s window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Central segment of the recording</a:t>
            </a:r>
          </a:p>
          <a:p>
            <a:r>
              <a:rPr lang="it-IT" sz="1400" dirty="0" err="1">
                <a:latin typeface="Lucida Bright" panose="02040602050505020304" pitchFamily="18" charset="77"/>
              </a:rPr>
              <a:t>Removes</a:t>
            </a:r>
            <a:r>
              <a:rPr lang="it-IT" sz="1400" dirty="0">
                <a:latin typeface="Lucida Bright" panose="02040602050505020304" pitchFamily="18" charset="77"/>
              </a:rPr>
              <a:t> start/end artifacts </a:t>
            </a:r>
          </a:p>
        </p:txBody>
      </p:sp>
      <p:cxnSp>
        <p:nvCxnSpPr>
          <p:cNvPr id="2" name="Connettore 1 9">
            <a:extLst>
              <a:ext uri="{FF2B5EF4-FFF2-40B4-BE49-F238E27FC236}">
                <a16:creationId xmlns:a16="http://schemas.microsoft.com/office/drawing/2014/main" id="{B92ABECC-68D3-DE59-C677-4C072B60BA4C}"/>
              </a:ext>
            </a:extLst>
          </p:cNvPr>
          <p:cNvCxnSpPr>
            <a:cxnSpLocks/>
          </p:cNvCxnSpPr>
          <p:nvPr/>
        </p:nvCxnSpPr>
        <p:spPr>
          <a:xfrm flipV="1">
            <a:off x="4211696" y="373341"/>
            <a:ext cx="3671882" cy="1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21E5E14-1A35-CE70-85B8-9969E188A277}"/>
              </a:ext>
            </a:extLst>
          </p:cNvPr>
          <p:cNvSpPr txBox="1"/>
          <p:nvPr/>
        </p:nvSpPr>
        <p:spPr>
          <a:xfrm>
            <a:off x="4169903" y="403411"/>
            <a:ext cx="1263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>
                    <a:lumMod val="20000"/>
                    <a:lumOff val="80000"/>
                  </a:schemeClr>
                </a:solidFill>
                <a:latin typeface="Lucida Bright" panose="02040602050505020304" pitchFamily="18" charset="77"/>
              </a:rPr>
              <a:t>Format</a:t>
            </a:r>
          </a:p>
        </p:txBody>
      </p:sp>
      <p:cxnSp>
        <p:nvCxnSpPr>
          <p:cNvPr id="4" name="Connettore 1 11">
            <a:extLst>
              <a:ext uri="{FF2B5EF4-FFF2-40B4-BE49-F238E27FC236}">
                <a16:creationId xmlns:a16="http://schemas.microsoft.com/office/drawing/2014/main" id="{C6F05733-3DD6-D4BF-2F7B-B719E71069AD}"/>
              </a:ext>
            </a:extLst>
          </p:cNvPr>
          <p:cNvCxnSpPr>
            <a:cxnSpLocks/>
          </p:cNvCxnSpPr>
          <p:nvPr/>
        </p:nvCxnSpPr>
        <p:spPr>
          <a:xfrm>
            <a:off x="4220676" y="850936"/>
            <a:ext cx="366290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7A99791-037E-4B1A-E007-4BB7455BBC2B}"/>
              </a:ext>
            </a:extLst>
          </p:cNvPr>
          <p:cNvSpPr txBox="1"/>
          <p:nvPr/>
        </p:nvSpPr>
        <p:spPr>
          <a:xfrm>
            <a:off x="4154511" y="898731"/>
            <a:ext cx="1263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rgbClr val="7FB8E9"/>
                </a:solidFill>
                <a:latin typeface="Lucida Bright" panose="02040602050505020304" pitchFamily="18" charset="77"/>
              </a:rPr>
              <a:t>Estimated</a:t>
            </a:r>
            <a:r>
              <a:rPr lang="it-IT" sz="1400" dirty="0">
                <a:solidFill>
                  <a:srgbClr val="7FB8E9"/>
                </a:solidFill>
                <a:latin typeface="Lucida Bright" panose="02040602050505020304" pitchFamily="18" charset="77"/>
              </a:rPr>
              <a:t> fs</a:t>
            </a:r>
          </a:p>
        </p:txBody>
      </p:sp>
      <p:cxnSp>
        <p:nvCxnSpPr>
          <p:cNvPr id="6" name="Connettore 1 15">
            <a:extLst>
              <a:ext uri="{FF2B5EF4-FFF2-40B4-BE49-F238E27FC236}">
                <a16:creationId xmlns:a16="http://schemas.microsoft.com/office/drawing/2014/main" id="{0C1E6BE9-16D4-666A-537D-2A759F57776F}"/>
              </a:ext>
            </a:extLst>
          </p:cNvPr>
          <p:cNvCxnSpPr>
            <a:cxnSpLocks/>
          </p:cNvCxnSpPr>
          <p:nvPr/>
        </p:nvCxnSpPr>
        <p:spPr>
          <a:xfrm>
            <a:off x="4211694" y="1251166"/>
            <a:ext cx="3671884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FCCB718-48F7-E054-EDD4-77C683A97BA8}"/>
              </a:ext>
            </a:extLst>
          </p:cNvPr>
          <p:cNvSpPr txBox="1"/>
          <p:nvPr/>
        </p:nvSpPr>
        <p:spPr>
          <a:xfrm>
            <a:off x="5547559" y="342344"/>
            <a:ext cx="23026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chemeClr val="tx1"/>
                </a:solidFill>
                <a:latin typeface="Lucida Bright" panose="02040602050505020304" pitchFamily="18" charset="77"/>
              </a:rPr>
              <a:t>Triaxial</a:t>
            </a:r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solidFill>
                  <a:schemeClr val="tx1"/>
                </a:solidFill>
                <a:latin typeface="Lucida Bright" panose="02040602050505020304" pitchFamily="18" charset="77"/>
              </a:rPr>
              <a:t>accelerometric</a:t>
            </a:r>
            <a:r>
              <a:rPr lang="it-IT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 signal (3xN)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6DA9EE1-8562-6243-27D7-8F0D234FF9F1}"/>
              </a:ext>
            </a:extLst>
          </p:cNvPr>
          <p:cNvSpPr txBox="1"/>
          <p:nvPr/>
        </p:nvSpPr>
        <p:spPr>
          <a:xfrm>
            <a:off x="5547559" y="898618"/>
            <a:ext cx="13659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≈ 99.7 Hz</a:t>
            </a:r>
          </a:p>
        </p:txBody>
      </p:sp>
    </p:spTree>
    <p:extLst>
      <p:ext uri="{BB962C8B-B14F-4D97-AF65-F5344CB8AC3E}">
        <p14:creationId xmlns:p14="http://schemas.microsoft.com/office/powerpoint/2010/main" val="3460568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C4AD-385D-7A8A-A17C-6345405D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E67984-777A-9C4A-83C7-0E20E766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17" y="-61484"/>
            <a:ext cx="4513509" cy="790401"/>
          </a:xfrm>
        </p:spPr>
        <p:txBody>
          <a:bodyPr>
            <a:noAutofit/>
          </a:bodyPr>
          <a:lstStyle/>
          <a:p>
            <a:r>
              <a:rPr lang="it-IT" sz="3000" dirty="0" err="1">
                <a:latin typeface="Garamond" panose="02020404030301010803" pitchFamily="18" charset="0"/>
              </a:rPr>
              <a:t>Respiration</a:t>
            </a:r>
            <a:r>
              <a:rPr lang="it-IT" sz="3000" dirty="0">
                <a:latin typeface="Garamond" panose="02020404030301010803" pitchFamily="18" charset="0"/>
              </a:rPr>
              <a:t> Rate Detection</a:t>
            </a:r>
          </a:p>
        </p:txBody>
      </p:sp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0B05F38E-8BCB-7239-34A1-AF9C4FF3D6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35DC17C-BB69-03B6-9880-ECF1EBE94A52}"/>
              </a:ext>
            </a:extLst>
          </p:cNvPr>
          <p:cNvSpPr txBox="1"/>
          <p:nvPr/>
        </p:nvSpPr>
        <p:spPr>
          <a:xfrm>
            <a:off x="4528109" y="515069"/>
            <a:ext cx="7583973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</a:rPr>
              <a:t>Low-pass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PCA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Time-domain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–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Autocorrelation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		    RR </a:t>
            </a: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        Frequency-domain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– Power Spectral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Density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Periodogram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RR</a:t>
            </a: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									        Welch 	    RR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26DDA12-02F7-B3E3-5F44-CC5199170EAE}"/>
              </a:ext>
            </a:extLst>
          </p:cNvPr>
          <p:cNvSpPr txBox="1"/>
          <p:nvPr/>
        </p:nvSpPr>
        <p:spPr>
          <a:xfrm>
            <a:off x="4528108" y="169437"/>
            <a:ext cx="1096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A6730F0-625C-BFA8-C5E2-24C01F9C6EBB}"/>
              </a:ext>
            </a:extLst>
          </p:cNvPr>
          <p:cNvSpPr txBox="1"/>
          <p:nvPr/>
        </p:nvSpPr>
        <p:spPr>
          <a:xfrm>
            <a:off x="5073490" y="1451033"/>
            <a:ext cx="4611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Low-pass filter</a:t>
            </a:r>
            <a:endParaRPr lang="it-IT" sz="2000" dirty="0">
              <a:latin typeface="Lucida Bright" panose="02040602050505020304" pitchFamily="18" charset="77"/>
            </a:endParaRPr>
          </a:p>
          <a:p>
            <a:endParaRPr lang="it-IT" sz="2400" dirty="0">
              <a:latin typeface="Lucida Bright" panose="02040602050505020304" pitchFamily="18" charset="77"/>
            </a:endParaRPr>
          </a:p>
        </p:txBody>
      </p:sp>
      <p:cxnSp>
        <p:nvCxnSpPr>
          <p:cNvPr id="14" name="Connettore 1 30">
            <a:extLst>
              <a:ext uri="{FF2B5EF4-FFF2-40B4-BE49-F238E27FC236}">
                <a16:creationId xmlns:a16="http://schemas.microsoft.com/office/drawing/2014/main" id="{09B4B657-C59B-15A5-E9DF-25E44748567C}"/>
              </a:ext>
            </a:extLst>
          </p:cNvPr>
          <p:cNvCxnSpPr>
            <a:cxnSpLocks/>
          </p:cNvCxnSpPr>
          <p:nvPr/>
        </p:nvCxnSpPr>
        <p:spPr>
          <a:xfrm>
            <a:off x="5073490" y="1908764"/>
            <a:ext cx="6411075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D5DF7C43-E02B-1E8D-CBE0-FA566EDA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2217" y="63692"/>
            <a:ext cx="565266" cy="540051"/>
          </a:xfrm>
        </p:spPr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3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pic>
        <p:nvPicPr>
          <p:cNvPr id="18" name="Immagine 17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9007431-ECA5-6240-7165-8AF7E413A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75" y="3767164"/>
            <a:ext cx="4368402" cy="2938600"/>
          </a:xfrm>
          <a:prstGeom prst="rect">
            <a:avLst/>
          </a:prstGeom>
        </p:spPr>
      </p:pic>
      <p:pic>
        <p:nvPicPr>
          <p:cNvPr id="29" name="Immagine 28" descr="Immagine che contiene testo, line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17193154-A0C3-9D15-D934-18D1E7297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75" y="618972"/>
            <a:ext cx="4368402" cy="2938600"/>
          </a:xfrm>
          <a:prstGeom prst="rect">
            <a:avLst/>
          </a:prstGeom>
        </p:spPr>
      </p:pic>
      <p:pic>
        <p:nvPicPr>
          <p:cNvPr id="30" name="Elemento grafico 29">
            <a:extLst>
              <a:ext uri="{FF2B5EF4-FFF2-40B4-BE49-F238E27FC236}">
                <a16:creationId xmlns:a16="http://schemas.microsoft.com/office/drawing/2014/main" id="{D8C6FAEC-5F74-AFB3-D3AB-B395ED802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248952" y="3557163"/>
            <a:ext cx="204638" cy="204638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D68F383-C502-708C-D7D6-207FCD8973E9}"/>
              </a:ext>
            </a:extLst>
          </p:cNvPr>
          <p:cNvSpPr/>
          <p:nvPr/>
        </p:nvSpPr>
        <p:spPr>
          <a:xfrm>
            <a:off x="6799913" y="3045810"/>
            <a:ext cx="1899549" cy="646327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Low-pass filtering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(fc=0.7 Hz)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21C9D3F1-424D-D556-0A41-EFC0C1EEBADC}"/>
              </a:ext>
            </a:extLst>
          </p:cNvPr>
          <p:cNvSpPr txBox="1"/>
          <p:nvPr/>
        </p:nvSpPr>
        <p:spPr>
          <a:xfrm>
            <a:off x="5127955" y="3215084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3x5982 signal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5A2E877A-D478-631A-3704-5556B4DD3F0F}"/>
              </a:ext>
            </a:extLst>
          </p:cNvPr>
          <p:cNvSpPr txBox="1"/>
          <p:nvPr/>
        </p:nvSpPr>
        <p:spPr>
          <a:xfrm>
            <a:off x="9048142" y="3215084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3x5982 signal</a:t>
            </a:r>
          </a:p>
        </p:txBody>
      </p: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E04E250E-862A-C48C-9BBE-8A80D8EE27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0556" y="3184337"/>
            <a:ext cx="365125" cy="365125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262DC4A5-3A49-EA6F-50A6-798BA4A5DA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6850" y="3184336"/>
            <a:ext cx="365125" cy="365125"/>
          </a:xfrm>
          <a:prstGeom prst="rect">
            <a:avLst/>
          </a:prstGeom>
        </p:spPr>
      </p:pic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88F7AB50-EFC7-1634-E48F-AC05DC1E4040}"/>
              </a:ext>
            </a:extLst>
          </p:cNvPr>
          <p:cNvSpPr txBox="1"/>
          <p:nvPr/>
        </p:nvSpPr>
        <p:spPr>
          <a:xfrm>
            <a:off x="5027995" y="1989669"/>
            <a:ext cx="69838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Respiration</a:t>
            </a:r>
            <a:r>
              <a:rPr lang="it-IT" sz="1400" dirty="0">
                <a:latin typeface="Lucida Bright" panose="02040602050505020304" pitchFamily="18" charset="77"/>
              </a:rPr>
              <a:t> is a low-frequency process (</a:t>
            </a:r>
            <a:r>
              <a:rPr lang="it-IT" sz="1400" dirty="0" err="1">
                <a:latin typeface="Lucida Bright" panose="02040602050505020304" pitchFamily="18" charset="77"/>
              </a:rPr>
              <a:t>typical</a:t>
            </a:r>
            <a:r>
              <a:rPr lang="it-IT" sz="1400" dirty="0">
                <a:latin typeface="Lucida Bright" panose="02040602050505020304" pitchFamily="18" charset="77"/>
              </a:rPr>
              <a:t> range: 0.1 – 0.7 Hz, 6 – 42 </a:t>
            </a:r>
            <a:r>
              <a:rPr lang="it-IT" sz="1400" dirty="0" err="1">
                <a:latin typeface="Lucida Bright" panose="02040602050505020304" pitchFamily="18" charset="77"/>
              </a:rPr>
              <a:t>breaths</a:t>
            </a:r>
            <a:r>
              <a:rPr lang="it-IT" sz="1400" dirty="0">
                <a:latin typeface="Lucida Bright" panose="02040602050505020304" pitchFamily="18" charset="77"/>
              </a:rPr>
              <a:t>/min) 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4th-order Butterworth low-pass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Zero-phase filtering (filtfilt)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06F2B282-A2B1-90AF-FB38-92D52A60B079}"/>
              </a:ext>
            </a:extLst>
          </p:cNvPr>
          <p:cNvSpPr txBox="1"/>
          <p:nvPr/>
        </p:nvSpPr>
        <p:spPr>
          <a:xfrm>
            <a:off x="5178390" y="3978496"/>
            <a:ext cx="4611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PCA</a:t>
            </a:r>
            <a:endParaRPr lang="it-IT" sz="2000" dirty="0">
              <a:latin typeface="Lucida Bright" panose="02040602050505020304" pitchFamily="18" charset="77"/>
            </a:endParaRPr>
          </a:p>
          <a:p>
            <a:endParaRPr lang="it-IT" sz="2400" dirty="0">
              <a:latin typeface="Lucida Bright" panose="02040602050505020304" pitchFamily="18" charset="77"/>
            </a:endParaRPr>
          </a:p>
        </p:txBody>
      </p:sp>
      <p:cxnSp>
        <p:nvCxnSpPr>
          <p:cNvPr id="41" name="Connettore 1 30">
            <a:extLst>
              <a:ext uri="{FF2B5EF4-FFF2-40B4-BE49-F238E27FC236}">
                <a16:creationId xmlns:a16="http://schemas.microsoft.com/office/drawing/2014/main" id="{7D7FF71C-AAA9-7A41-F24D-75A918BF8F83}"/>
              </a:ext>
            </a:extLst>
          </p:cNvPr>
          <p:cNvCxnSpPr>
            <a:cxnSpLocks/>
          </p:cNvCxnSpPr>
          <p:nvPr/>
        </p:nvCxnSpPr>
        <p:spPr>
          <a:xfrm>
            <a:off x="5178390" y="4436227"/>
            <a:ext cx="6306175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30">
            <a:extLst>
              <a:ext uri="{FF2B5EF4-FFF2-40B4-BE49-F238E27FC236}">
                <a16:creationId xmlns:a16="http://schemas.microsoft.com/office/drawing/2014/main" id="{DB74061F-FAA9-0509-9512-C1E3369A94D5}"/>
              </a:ext>
            </a:extLst>
          </p:cNvPr>
          <p:cNvSpPr/>
          <p:nvPr/>
        </p:nvSpPr>
        <p:spPr>
          <a:xfrm>
            <a:off x="6801053" y="5377333"/>
            <a:ext cx="1899549" cy="646327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Lucida Bright" panose="02040602050505020304" pitchFamily="18" charset="77"/>
              </a:rPr>
              <a:t>PCA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2001A4D-F4B7-FC07-EBFA-68302B0264C3}"/>
              </a:ext>
            </a:extLst>
          </p:cNvPr>
          <p:cNvSpPr txBox="1"/>
          <p:nvPr/>
        </p:nvSpPr>
        <p:spPr>
          <a:xfrm>
            <a:off x="5137484" y="5546607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3x5982 signal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92E7F165-DD8B-D942-B002-0C680EAEA1A9}"/>
              </a:ext>
            </a:extLst>
          </p:cNvPr>
          <p:cNvSpPr txBox="1"/>
          <p:nvPr/>
        </p:nvSpPr>
        <p:spPr>
          <a:xfrm>
            <a:off x="9049282" y="5546607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1x5982 signal</a:t>
            </a:r>
          </a:p>
        </p:txBody>
      </p:sp>
      <p:pic>
        <p:nvPicPr>
          <p:cNvPr id="45" name="Elemento grafico 44">
            <a:extLst>
              <a:ext uri="{FF2B5EF4-FFF2-40B4-BE49-F238E27FC236}">
                <a16:creationId xmlns:a16="http://schemas.microsoft.com/office/drawing/2014/main" id="{F81211E7-D2BC-565D-90ED-2B3280AA3A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1696" y="5515860"/>
            <a:ext cx="365125" cy="365125"/>
          </a:xfrm>
          <a:prstGeom prst="rect">
            <a:avLst/>
          </a:prstGeom>
        </p:spPr>
      </p:pic>
      <p:pic>
        <p:nvPicPr>
          <p:cNvPr id="46" name="Elemento grafico 45">
            <a:extLst>
              <a:ext uri="{FF2B5EF4-FFF2-40B4-BE49-F238E27FC236}">
                <a16:creationId xmlns:a16="http://schemas.microsoft.com/office/drawing/2014/main" id="{F30FFF2F-3B84-6943-83CD-331B7A384D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7990" y="5515859"/>
            <a:ext cx="365125" cy="365125"/>
          </a:xfrm>
          <a:prstGeom prst="rect">
            <a:avLst/>
          </a:prstGeom>
        </p:spPr>
      </p:pic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A7561971-5BF3-3DCA-30B4-A5895768D310}"/>
              </a:ext>
            </a:extLst>
          </p:cNvPr>
          <p:cNvSpPr txBox="1"/>
          <p:nvPr/>
        </p:nvSpPr>
        <p:spPr>
          <a:xfrm>
            <a:off x="5132896" y="4517132"/>
            <a:ext cx="61217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Respiration</a:t>
            </a:r>
            <a:r>
              <a:rPr lang="it-IT" sz="1400" dirty="0">
                <a:latin typeface="Lucida Bright" panose="02040602050505020304" pitchFamily="18" charset="77"/>
              </a:rPr>
              <a:t> spread </a:t>
            </a:r>
            <a:r>
              <a:rPr lang="it-IT" sz="1400" dirty="0" err="1">
                <a:latin typeface="Lucida Bright" panose="02040602050505020304" pitchFamily="18" charset="77"/>
              </a:rPr>
              <a:t>across</a:t>
            </a:r>
            <a:r>
              <a:rPr lang="it-IT" sz="1400" dirty="0">
                <a:latin typeface="Lucida Bright" panose="02040602050505020304" pitchFamily="18" charset="77"/>
              </a:rPr>
              <a:t> X, Y, </a:t>
            </a:r>
            <a:r>
              <a:rPr lang="it-IT" sz="1400" dirty="0" err="1">
                <a:latin typeface="Lucida Bright" panose="02040602050505020304" pitchFamily="18" charset="77"/>
              </a:rPr>
              <a:t>Z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axes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PCA combines </a:t>
            </a:r>
            <a:r>
              <a:rPr lang="it-IT" sz="1400" dirty="0" err="1">
                <a:latin typeface="Lucida Bright" panose="02040602050505020304" pitchFamily="18" charset="77"/>
              </a:rPr>
              <a:t>axes</a:t>
            </a:r>
            <a:r>
              <a:rPr lang="it-IT" sz="1400" dirty="0">
                <a:latin typeface="Lucida Bright" panose="02040602050505020304" pitchFamily="18" charset="77"/>
              </a:rPr>
              <a:t> into a single </a:t>
            </a:r>
            <a:r>
              <a:rPr lang="it-IT" sz="1400" dirty="0" err="1">
                <a:latin typeface="Lucida Bright" panose="02040602050505020304" pitchFamily="18" charset="77"/>
              </a:rPr>
              <a:t>dominant</a:t>
            </a:r>
            <a:r>
              <a:rPr lang="it-IT" sz="1400" dirty="0">
                <a:latin typeface="Lucida Bright" panose="02040602050505020304" pitchFamily="18" charset="77"/>
              </a:rPr>
              <a:t> component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PC1 </a:t>
            </a:r>
            <a:r>
              <a:rPr lang="it-IT" sz="1400" dirty="0" err="1">
                <a:latin typeface="Lucida Bright" panose="02040602050505020304" pitchFamily="18" charset="77"/>
              </a:rPr>
              <a:t>captures</a:t>
            </a:r>
            <a:r>
              <a:rPr lang="it-IT" sz="1400" dirty="0">
                <a:latin typeface="Lucida Bright" panose="02040602050505020304" pitchFamily="18" charset="77"/>
              </a:rPr>
              <a:t> maximum shared motion</a:t>
            </a:r>
          </a:p>
        </p:txBody>
      </p:sp>
      <p:pic>
        <p:nvPicPr>
          <p:cNvPr id="50" name="Elemento grafico 49">
            <a:extLst>
              <a:ext uri="{FF2B5EF4-FFF2-40B4-BE49-F238E27FC236}">
                <a16:creationId xmlns:a16="http://schemas.microsoft.com/office/drawing/2014/main" id="{D6950B62-520F-22FE-83D1-F72D6BA896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7732208">
            <a:off x="2154609" y="6681450"/>
            <a:ext cx="188688" cy="188688"/>
          </a:xfrm>
          <a:prstGeom prst="rect">
            <a:avLst/>
          </a:prstGeom>
        </p:spPr>
      </p:pic>
      <p:pic>
        <p:nvPicPr>
          <p:cNvPr id="51" name="Immagine 50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4F18BAF-FE4C-C79D-AA1E-532F3412E3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647845" y="7101461"/>
            <a:ext cx="3987521" cy="2639427"/>
          </a:xfrm>
          <a:prstGeom prst="rect">
            <a:avLst/>
          </a:prstGeom>
        </p:spPr>
      </p:pic>
      <p:pic>
        <p:nvPicPr>
          <p:cNvPr id="52" name="Elemento grafico 51">
            <a:extLst>
              <a:ext uri="{FF2B5EF4-FFF2-40B4-BE49-F238E27FC236}">
                <a16:creationId xmlns:a16="http://schemas.microsoft.com/office/drawing/2014/main" id="{02F079D1-81CE-B315-C866-01465371B9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3421386">
            <a:off x="2342558" y="6675689"/>
            <a:ext cx="204003" cy="204003"/>
          </a:xfrm>
          <a:prstGeom prst="rect">
            <a:avLst/>
          </a:prstGeom>
        </p:spPr>
      </p:pic>
      <p:pic>
        <p:nvPicPr>
          <p:cNvPr id="53" name="Immagine 52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733CBF53-DE06-ED4F-1062-D4ED91B600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9704" y="7128417"/>
            <a:ext cx="3906452" cy="2632609"/>
          </a:xfrm>
          <a:prstGeom prst="rect">
            <a:avLst/>
          </a:prstGeom>
        </p:spPr>
      </p:pic>
      <p:sp>
        <p:nvSpPr>
          <p:cNvPr id="54" name="Segnaposto piè di pagina 3">
            <a:extLst>
              <a:ext uri="{FF2B5EF4-FFF2-40B4-BE49-F238E27FC236}">
                <a16:creationId xmlns:a16="http://schemas.microsoft.com/office/drawing/2014/main" id="{BC637722-21ED-8EC1-0F4C-767FB0DCD830}"/>
              </a:ext>
            </a:extLst>
          </p:cNvPr>
          <p:cNvSpPr txBox="1">
            <a:spLocks/>
          </p:cNvSpPr>
          <p:nvPr/>
        </p:nvSpPr>
        <p:spPr>
          <a:xfrm>
            <a:off x="838200" y="6484147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>
                <a:latin typeface="Garamond" panose="02020404030301010803" pitchFamily="18" charset="0"/>
              </a:rPr>
              <a:t>UNIVERSITA’ DEGLI STUDI DI MILANO</a:t>
            </a:r>
            <a:endParaRPr lang="it-IT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847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30AA-39BD-F87D-5E4B-DE21405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magine 35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03A98BD4-7211-87F1-D88C-8E20FFB164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672" r="47456"/>
          <a:stretch>
            <a:fillRect/>
          </a:stretch>
        </p:blipFill>
        <p:spPr>
          <a:xfrm>
            <a:off x="2929332" y="1161400"/>
            <a:ext cx="2095204" cy="759846"/>
          </a:xfrm>
          <a:prstGeom prst="rect">
            <a:avLst/>
          </a:prstGeom>
        </p:spPr>
      </p:pic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C914878B-A29D-51A1-3090-49197A8B20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DAD0975-33A5-0D3C-26A9-E22BE1E46FA4}"/>
              </a:ext>
            </a:extLst>
          </p:cNvPr>
          <p:cNvSpPr txBox="1"/>
          <p:nvPr/>
        </p:nvSpPr>
        <p:spPr>
          <a:xfrm>
            <a:off x="4528109" y="515069"/>
            <a:ext cx="7583973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Lucida Bright" panose="02040602050505020304" pitchFamily="18" charset="77"/>
              </a:rPr>
              <a:t>Low-pass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PCA  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Time-domain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–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Autocorrelation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		    RR </a:t>
            </a: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        Frequency-domain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– Power Spectral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Density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Periodogram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RR</a:t>
            </a: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									        Welch 	    RR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35BB03C-7437-EB51-3FC6-5171108A87F0}"/>
              </a:ext>
            </a:extLst>
          </p:cNvPr>
          <p:cNvSpPr txBox="1"/>
          <p:nvPr/>
        </p:nvSpPr>
        <p:spPr>
          <a:xfrm>
            <a:off x="4528108" y="169437"/>
            <a:ext cx="1096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819C9A6-CBCB-E70D-CF11-706FC1596903}"/>
              </a:ext>
            </a:extLst>
          </p:cNvPr>
          <p:cNvSpPr txBox="1"/>
          <p:nvPr/>
        </p:nvSpPr>
        <p:spPr>
          <a:xfrm>
            <a:off x="5155487" y="1451033"/>
            <a:ext cx="6411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Time-domain </a:t>
            </a:r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– </a:t>
            </a:r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Autocorrelation</a:t>
            </a:r>
            <a:endParaRPr lang="it-IT" sz="2000" b="1" dirty="0">
              <a:latin typeface="Lucida Bright" panose="02040602050505020304" pitchFamily="18" charset="77"/>
            </a:endParaRPr>
          </a:p>
        </p:txBody>
      </p:sp>
      <p:cxnSp>
        <p:nvCxnSpPr>
          <p:cNvPr id="14" name="Connettore 1 30">
            <a:extLst>
              <a:ext uri="{FF2B5EF4-FFF2-40B4-BE49-F238E27FC236}">
                <a16:creationId xmlns:a16="http://schemas.microsoft.com/office/drawing/2014/main" id="{65E21C72-B791-FD9E-E69D-13F08E720E14}"/>
              </a:ext>
            </a:extLst>
          </p:cNvPr>
          <p:cNvCxnSpPr>
            <a:cxnSpLocks/>
          </p:cNvCxnSpPr>
          <p:nvPr/>
        </p:nvCxnSpPr>
        <p:spPr>
          <a:xfrm>
            <a:off x="5155487" y="1908764"/>
            <a:ext cx="6411075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BE8325D3-20B8-68C4-778B-7915C4D2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2217" y="63692"/>
            <a:ext cx="565266" cy="540051"/>
          </a:xfrm>
        </p:spPr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4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pic>
        <p:nvPicPr>
          <p:cNvPr id="30" name="Elemento grafico 29">
            <a:extLst>
              <a:ext uri="{FF2B5EF4-FFF2-40B4-BE49-F238E27FC236}">
                <a16:creationId xmlns:a16="http://schemas.microsoft.com/office/drawing/2014/main" id="{EDAF8E6D-6B46-B315-136A-A8BA86F390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8110682">
            <a:off x="4620679" y="1911386"/>
            <a:ext cx="365125" cy="365125"/>
          </a:xfrm>
          <a:prstGeom prst="rect">
            <a:avLst/>
          </a:prstGeom>
        </p:spPr>
      </p:pic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7B638A3E-C7BD-E0D0-722D-C50362299849}"/>
              </a:ext>
            </a:extLst>
          </p:cNvPr>
          <p:cNvSpPr txBox="1"/>
          <p:nvPr/>
        </p:nvSpPr>
        <p:spPr>
          <a:xfrm>
            <a:off x="5109992" y="2043912"/>
            <a:ext cx="69838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it-IT" sz="1400" dirty="0" err="1">
                <a:latin typeface="Lucida Bright" panose="02040602050505020304" pitchFamily="18" charset="77"/>
              </a:rPr>
              <a:t>Autocorrelation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		</a:t>
            </a:r>
            <a:r>
              <a:rPr lang="it-IT" sz="1400" dirty="0" err="1">
                <a:latin typeface="Lucida Bright" panose="02040602050505020304" pitchFamily="18" charset="77"/>
              </a:rPr>
              <a:t>Computed</a:t>
            </a:r>
            <a:r>
              <a:rPr lang="it-IT" sz="1400" dirty="0">
                <a:latin typeface="Lucida Bright" panose="02040602050505020304" pitchFamily="18" charset="77"/>
              </a:rPr>
              <a:t> on PCA </a:t>
            </a:r>
            <a:r>
              <a:rPr lang="it-IT" sz="1400" dirty="0" err="1">
                <a:latin typeface="Lucida Bright" panose="02040602050505020304" pitchFamily="18" charset="77"/>
              </a:rPr>
              <a:t>respiratory</a:t>
            </a:r>
            <a:r>
              <a:rPr lang="it-IT" sz="1400" dirty="0">
                <a:latin typeface="Lucida Bright" panose="02040602050505020304" pitchFamily="18" charset="77"/>
              </a:rPr>
              <a:t> signal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	Lag 0 </a:t>
            </a:r>
            <a:r>
              <a:rPr lang="it-IT" sz="1400" dirty="0" err="1">
                <a:latin typeface="Lucida Bright" panose="02040602050505020304" pitchFamily="18" charset="77"/>
              </a:rPr>
              <a:t>discarded</a:t>
            </a:r>
            <a:r>
              <a:rPr lang="it-IT" sz="1400" dirty="0">
                <a:latin typeface="Lucida Bright" panose="02040602050505020304" pitchFamily="18" charset="77"/>
              </a:rPr>
              <a:t> (</a:t>
            </a:r>
            <a:r>
              <a:rPr lang="it-IT" sz="1400" dirty="0" err="1">
                <a:latin typeface="Lucida Bright" panose="02040602050505020304" pitchFamily="18" charset="77"/>
              </a:rPr>
              <a:t>trivial</a:t>
            </a:r>
            <a:r>
              <a:rPr lang="it-IT" sz="1400" dirty="0">
                <a:latin typeface="Lucida Bright" panose="02040602050505020304" pitchFamily="18" charset="77"/>
              </a:rPr>
              <a:t> maximum)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	</a:t>
            </a:r>
            <a:r>
              <a:rPr lang="it-IT" sz="1400" dirty="0" err="1">
                <a:latin typeface="Lucida Bright" panose="02040602050505020304" pitchFamily="18" charset="77"/>
              </a:rPr>
              <a:t>Periodic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correspond</a:t>
            </a:r>
            <a:r>
              <a:rPr lang="it-IT" sz="1400" dirty="0">
                <a:latin typeface="Lucida Bright" panose="02040602050505020304" pitchFamily="18" charset="77"/>
              </a:rPr>
              <a:t> to </a:t>
            </a:r>
            <a:r>
              <a:rPr lang="it-IT" sz="1400" dirty="0" err="1">
                <a:latin typeface="Lucida Bright" panose="02040602050505020304" pitchFamily="18" charset="77"/>
              </a:rPr>
              <a:t>respiration</a:t>
            </a:r>
            <a:r>
              <a:rPr lang="it-IT" sz="1400" dirty="0">
                <a:latin typeface="Lucida Bright" panose="02040602050505020304" pitchFamily="18" charset="77"/>
              </a:rPr>
              <a:t> cycle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 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2.    Peak detection</a:t>
            </a:r>
          </a:p>
          <a:p>
            <a:r>
              <a:rPr lang="it-IT" sz="1400" dirty="0">
                <a:latin typeface="Lucida Bright" panose="02040602050505020304" pitchFamily="18" charset="77"/>
              </a:rPr>
              <a:t>		First non-zero peak → </a:t>
            </a:r>
            <a:r>
              <a:rPr lang="it-IT" sz="1400" dirty="0" err="1">
                <a:latin typeface="Lucida Bright" panose="02040602050505020304" pitchFamily="18" charset="77"/>
              </a:rPr>
              <a:t>fundamental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period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		 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22F40520-5608-5B9F-039B-DA2A83CAE4D5}"/>
              </a:ext>
            </a:extLst>
          </p:cNvPr>
          <p:cNvSpPr txBox="1"/>
          <p:nvPr/>
        </p:nvSpPr>
        <p:spPr>
          <a:xfrm>
            <a:off x="5260387" y="4732430"/>
            <a:ext cx="4611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Respiratory</a:t>
            </a:r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 Rate</a:t>
            </a:r>
            <a:endParaRPr lang="it-IT" sz="2000" dirty="0">
              <a:latin typeface="Lucida Bright" panose="02040602050505020304" pitchFamily="18" charset="77"/>
            </a:endParaRPr>
          </a:p>
          <a:p>
            <a:endParaRPr lang="it-IT" sz="2400" dirty="0">
              <a:latin typeface="Lucida Bright" panose="02040602050505020304" pitchFamily="18" charset="77"/>
            </a:endParaRPr>
          </a:p>
        </p:txBody>
      </p:sp>
      <p:cxnSp>
        <p:nvCxnSpPr>
          <p:cNvPr id="41" name="Connettore 1 30">
            <a:extLst>
              <a:ext uri="{FF2B5EF4-FFF2-40B4-BE49-F238E27FC236}">
                <a16:creationId xmlns:a16="http://schemas.microsoft.com/office/drawing/2014/main" id="{85691F4D-9765-9BF0-D050-C17EC8900681}"/>
              </a:ext>
            </a:extLst>
          </p:cNvPr>
          <p:cNvCxnSpPr>
            <a:cxnSpLocks/>
          </p:cNvCxnSpPr>
          <p:nvPr/>
        </p:nvCxnSpPr>
        <p:spPr>
          <a:xfrm>
            <a:off x="5260387" y="5190161"/>
            <a:ext cx="6306175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00191D0-07F9-021C-FD3D-0078173D1542}"/>
              </a:ext>
            </a:extLst>
          </p:cNvPr>
          <p:cNvSpPr txBox="1"/>
          <p:nvPr/>
        </p:nvSpPr>
        <p:spPr>
          <a:xfrm>
            <a:off x="5214893" y="5271066"/>
            <a:ext cx="61217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Detect</a:t>
            </a:r>
            <a:r>
              <a:rPr lang="it-IT" sz="1400" dirty="0">
                <a:latin typeface="Lucida Bright" panose="02040602050505020304" pitchFamily="18" charset="77"/>
              </a:rPr>
              <a:t> the </a:t>
            </a:r>
            <a:r>
              <a:rPr lang="it-IT" sz="1400" dirty="0" err="1">
                <a:latin typeface="Lucida Bright" panose="02040602050505020304" pitchFamily="18" charset="77"/>
              </a:rPr>
              <a:t>period</a:t>
            </a:r>
            <a:r>
              <a:rPr lang="it-IT" sz="1400" dirty="0">
                <a:latin typeface="Lucida Bright" panose="02040602050505020304" pitchFamily="18" charset="77"/>
              </a:rPr>
              <a:t> T of the first peak </a:t>
            </a:r>
            <a:r>
              <a:rPr lang="it-IT" sz="1400" dirty="0" err="1">
                <a:latin typeface="Lucida Bright" panose="02040602050505020304" pitchFamily="18" charset="77"/>
              </a:rPr>
              <a:t>locs</a:t>
            </a:r>
            <a:r>
              <a:rPr lang="it-IT" sz="1400" dirty="0">
                <a:latin typeface="Lucida Bright" panose="02040602050505020304" pitchFamily="18" charset="77"/>
              </a:rPr>
              <a:t>(1)</a:t>
            </a:r>
          </a:p>
          <a:p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400" dirty="0">
                <a:latin typeface="Lucida Bright" panose="02040602050505020304" pitchFamily="18" charset="77"/>
              </a:rPr>
              <a:t>RR = 60 / T</a:t>
            </a:r>
          </a:p>
        </p:txBody>
      </p:sp>
      <p:pic>
        <p:nvPicPr>
          <p:cNvPr id="6" name="Immagine 5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1E9702F0-2A4D-CC93-0BAD-8BAD9A5854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14" y="2284860"/>
            <a:ext cx="4878522" cy="32292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1C6947-2497-026E-7CAE-89F46CF5F15B}"/>
              </a:ext>
            </a:extLst>
          </p:cNvPr>
          <p:cNvSpPr txBox="1"/>
          <p:nvPr/>
        </p:nvSpPr>
        <p:spPr>
          <a:xfrm>
            <a:off x="301025" y="5485456"/>
            <a:ext cx="36535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../data/person2/person2_normal.csv</a:t>
            </a:r>
          </a:p>
          <a:p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First peak in seconds: 7.8s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  <a:sym typeface="Wingdings" pitchFamily="2" charset="2"/>
              </a:rPr>
              <a:t>in samples: 		  779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  <a:sym typeface="Wingdings" pitchFamily="2" charset="2"/>
              </a:rPr>
              <a:t>RR: 			  7.68 </a:t>
            </a:r>
            <a:r>
              <a:rPr lang="it-IT" sz="1400" dirty="0" err="1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  <a:sym typeface="Wingdings" pitchFamily="2" charset="2"/>
              </a:rPr>
              <a:t>breaths</a:t>
            </a:r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  <a:sym typeface="Wingdings" pitchFamily="2" charset="2"/>
              </a:rPr>
              <a:t>/min</a:t>
            </a:r>
            <a:endParaRPr lang="it-IT" sz="1400" dirty="0">
              <a:solidFill>
                <a:schemeClr val="accent5">
                  <a:lumMod val="75000"/>
                </a:schemeClr>
              </a:solidFill>
              <a:latin typeface="Lucida Bright" panose="02040602050505020304" pitchFamily="18" charset="77"/>
            </a:endParaRPr>
          </a:p>
        </p:txBody>
      </p:sp>
      <p:sp>
        <p:nvSpPr>
          <p:cNvPr id="10" name="Rectangle: Rounded Corners 30">
            <a:extLst>
              <a:ext uri="{FF2B5EF4-FFF2-40B4-BE49-F238E27FC236}">
                <a16:creationId xmlns:a16="http://schemas.microsoft.com/office/drawing/2014/main" id="{D3A0AF1E-CBDE-BC20-DE5F-578EB591919E}"/>
              </a:ext>
            </a:extLst>
          </p:cNvPr>
          <p:cNvSpPr/>
          <p:nvPr/>
        </p:nvSpPr>
        <p:spPr>
          <a:xfrm>
            <a:off x="6881910" y="3793394"/>
            <a:ext cx="1647351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my_autocorrelation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6C4D1AE-7BC8-3B27-8BF6-A785FDD4509B}"/>
              </a:ext>
            </a:extLst>
          </p:cNvPr>
          <p:cNvSpPr txBox="1"/>
          <p:nvPr/>
        </p:nvSpPr>
        <p:spPr>
          <a:xfrm>
            <a:off x="5209952" y="3903710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1x5982 signal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28CBA3B-4047-0165-1460-72D1EE178031}"/>
              </a:ext>
            </a:extLst>
          </p:cNvPr>
          <p:cNvSpPr txBox="1"/>
          <p:nvPr/>
        </p:nvSpPr>
        <p:spPr>
          <a:xfrm>
            <a:off x="8824741" y="3610017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R</a:t>
            </a:r>
            <a:r>
              <a:rPr lang="it-IT" sz="1400" dirty="0">
                <a:latin typeface="Lucida Bright" panose="02040602050505020304" pitchFamily="18" charset="77"/>
              </a:rPr>
              <a:t> 1x5981</a:t>
            </a:r>
          </a:p>
        </p:txBody>
      </p:sp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461412E6-87AB-BC95-DFA6-B641F65D97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2553" y="3872963"/>
            <a:ext cx="365125" cy="365125"/>
          </a:xfrm>
          <a:prstGeom prst="rect">
            <a:avLst/>
          </a:prstGeom>
        </p:spPr>
      </p:pic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389B81C8-9307-7757-D1B7-A88BDF5D2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275095">
            <a:off x="8542407" y="3761061"/>
            <a:ext cx="365125" cy="365125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1AC9D7E3-7724-37C6-A83F-8C2533F0CF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41371">
            <a:off x="8536552" y="3941295"/>
            <a:ext cx="365125" cy="365125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5787BF8-B7A2-C8BD-F333-3BE5A26F5515}"/>
              </a:ext>
            </a:extLst>
          </p:cNvPr>
          <p:cNvSpPr txBox="1"/>
          <p:nvPr/>
        </p:nvSpPr>
        <p:spPr>
          <a:xfrm>
            <a:off x="8824740" y="4064102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lags 1x5981</a:t>
            </a:r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4A54AC81-FB7B-83F2-87AF-402F48B4C82A}"/>
              </a:ext>
            </a:extLst>
          </p:cNvPr>
          <p:cNvSpPr/>
          <p:nvPr/>
        </p:nvSpPr>
        <p:spPr>
          <a:xfrm>
            <a:off x="10054564" y="3506191"/>
            <a:ext cx="1647351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my_findpeaks</a:t>
            </a:r>
          </a:p>
        </p:txBody>
      </p:sp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056F43BD-47F0-F05D-1044-DAA6E5766C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5207" y="3585760"/>
            <a:ext cx="365125" cy="365125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E9BF2DEC-3704-EC88-B8F4-9F5F7B89E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069961">
            <a:off x="10768042" y="4005078"/>
            <a:ext cx="365125" cy="365125"/>
          </a:xfrm>
          <a:prstGeom prst="rect">
            <a:avLst/>
          </a:prstGeom>
        </p:spPr>
      </p:pic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C5AF3A97-42B6-FF65-1F9A-0C6EB4231F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936237">
            <a:off x="10563347" y="3999298"/>
            <a:ext cx="365125" cy="365125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3EB50A6-1748-2757-E4F5-223B9D3BE4AF}"/>
              </a:ext>
            </a:extLst>
          </p:cNvPr>
          <p:cNvSpPr txBox="1"/>
          <p:nvPr/>
        </p:nvSpPr>
        <p:spPr>
          <a:xfrm>
            <a:off x="10065996" y="4282858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endParaRPr lang="it-IT" sz="1400" dirty="0">
              <a:latin typeface="Lucida Bright" panose="02040602050505020304" pitchFamily="18" charset="77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73F6072-F400-B4D1-F32B-9EA89B1A5E5F}"/>
              </a:ext>
            </a:extLst>
          </p:cNvPr>
          <p:cNvSpPr txBox="1"/>
          <p:nvPr/>
        </p:nvSpPr>
        <p:spPr>
          <a:xfrm>
            <a:off x="10950604" y="4271501"/>
            <a:ext cx="529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locs</a:t>
            </a:r>
            <a:endParaRPr lang="it-IT" sz="1400" dirty="0">
              <a:latin typeface="Lucida Bright" panose="02040602050505020304" pitchFamily="18" charset="77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DDE8E-FC28-3FD0-00B0-9797C205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65" y="79959"/>
            <a:ext cx="4347943" cy="83637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it-IT" sz="3000" dirty="0" err="1">
                <a:latin typeface="Garamond" panose="02020404030301010803" pitchFamily="18" charset="0"/>
              </a:rPr>
              <a:t>Respiration</a:t>
            </a:r>
            <a:r>
              <a:rPr lang="it-IT" sz="3000" dirty="0">
                <a:latin typeface="Garamond" panose="02020404030301010803" pitchFamily="18" charset="0"/>
              </a:rPr>
              <a:t> Rate Detection</a:t>
            </a:r>
          </a:p>
        </p:txBody>
      </p:sp>
      <p:sp>
        <p:nvSpPr>
          <p:cNvPr id="38" name="Segnaposto piè di pagina 3">
            <a:extLst>
              <a:ext uri="{FF2B5EF4-FFF2-40B4-BE49-F238E27FC236}">
                <a16:creationId xmlns:a16="http://schemas.microsoft.com/office/drawing/2014/main" id="{5803A29E-5CE6-DB79-301F-BE0190FC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</p:spTree>
    <p:extLst>
      <p:ext uri="{BB962C8B-B14F-4D97-AF65-F5344CB8AC3E}">
        <p14:creationId xmlns:p14="http://schemas.microsoft.com/office/powerpoint/2010/main" val="2798690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4BB5-50D2-DD54-7890-8A8566FE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41116BF-9390-F8F5-7404-D23B10E8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97" t="30096"/>
          <a:stretch>
            <a:fillRect/>
          </a:stretch>
        </p:blipFill>
        <p:spPr>
          <a:xfrm>
            <a:off x="230075" y="63692"/>
            <a:ext cx="2025793" cy="1875096"/>
          </a:xfrm>
          <a:prstGeom prst="rect">
            <a:avLst/>
          </a:prstGeom>
        </p:spPr>
      </p:pic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A21ACE5C-5C57-9339-0DA6-07CA9E630E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972E051-2E88-FCE3-6B9B-CC3EA321D968}"/>
              </a:ext>
            </a:extLst>
          </p:cNvPr>
          <p:cNvSpPr txBox="1"/>
          <p:nvPr/>
        </p:nvSpPr>
        <p:spPr>
          <a:xfrm>
            <a:off x="4528109" y="515069"/>
            <a:ext cx="7583973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Lucida Bright" panose="02040602050505020304" pitchFamily="18" charset="77"/>
              </a:rPr>
              <a:t>Low-pass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PCA  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Time-domain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–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Autocorrelation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		    RR </a:t>
            </a: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        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Frequency-domain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– Power Spectral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Density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Periodogram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RR</a:t>
            </a: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									        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Welch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	    RR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DAC5020-3C77-CE10-438A-478200AD8AFE}"/>
              </a:ext>
            </a:extLst>
          </p:cNvPr>
          <p:cNvSpPr txBox="1"/>
          <p:nvPr/>
        </p:nvSpPr>
        <p:spPr>
          <a:xfrm>
            <a:off x="4528108" y="169437"/>
            <a:ext cx="1096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462C390-2CC8-43F4-0E68-AEE774B7B8C8}"/>
              </a:ext>
            </a:extLst>
          </p:cNvPr>
          <p:cNvSpPr txBox="1"/>
          <p:nvPr/>
        </p:nvSpPr>
        <p:spPr>
          <a:xfrm>
            <a:off x="5084239" y="1451033"/>
            <a:ext cx="6983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Frequency-domain </a:t>
            </a:r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– Power Spectral </a:t>
            </a:r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Density</a:t>
            </a:r>
            <a:endParaRPr lang="it-IT" sz="2000" b="1" dirty="0">
              <a:latin typeface="Lucida Bright" panose="02040602050505020304" pitchFamily="18" charset="77"/>
            </a:endParaRPr>
          </a:p>
        </p:txBody>
      </p:sp>
      <p:cxnSp>
        <p:nvCxnSpPr>
          <p:cNvPr id="14" name="Connettore 1 30">
            <a:extLst>
              <a:ext uri="{FF2B5EF4-FFF2-40B4-BE49-F238E27FC236}">
                <a16:creationId xmlns:a16="http://schemas.microsoft.com/office/drawing/2014/main" id="{54D5772D-676A-270C-AC3D-0AD82E5DB192}"/>
              </a:ext>
            </a:extLst>
          </p:cNvPr>
          <p:cNvCxnSpPr>
            <a:cxnSpLocks/>
          </p:cNvCxnSpPr>
          <p:nvPr/>
        </p:nvCxnSpPr>
        <p:spPr>
          <a:xfrm>
            <a:off x="5084239" y="1908764"/>
            <a:ext cx="7127467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2B4CF21-9E86-EBBA-24B9-B7B311A4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2217" y="63692"/>
            <a:ext cx="565266" cy="540051"/>
          </a:xfrm>
        </p:spPr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5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27" name="Segnaposto piè di pagina 3">
            <a:extLst>
              <a:ext uri="{FF2B5EF4-FFF2-40B4-BE49-F238E27FC236}">
                <a16:creationId xmlns:a16="http://schemas.microsoft.com/office/drawing/2014/main" id="{C5B4AB5F-3315-306A-E565-39CA6C0A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pic>
        <p:nvPicPr>
          <p:cNvPr id="30" name="Elemento grafico 29">
            <a:extLst>
              <a:ext uri="{FF2B5EF4-FFF2-40B4-BE49-F238E27FC236}">
                <a16:creationId xmlns:a16="http://schemas.microsoft.com/office/drawing/2014/main" id="{00528B8D-0910-D9AC-4B2C-EC0BC57143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051513">
            <a:off x="168788" y="1927427"/>
            <a:ext cx="365125" cy="365125"/>
          </a:xfrm>
          <a:prstGeom prst="rect">
            <a:avLst/>
          </a:prstGeom>
        </p:spPr>
      </p:pic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C169E667-58FF-EECE-BD70-56EC2CD2A345}"/>
              </a:ext>
            </a:extLst>
          </p:cNvPr>
          <p:cNvSpPr txBox="1"/>
          <p:nvPr/>
        </p:nvSpPr>
        <p:spPr>
          <a:xfrm>
            <a:off x="5038744" y="2043912"/>
            <a:ext cx="698383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it-IT" sz="1400" dirty="0">
                <a:latin typeface="Lucida Bright" panose="02040602050505020304" pitchFamily="18" charset="77"/>
              </a:rPr>
              <a:t>PSD </a:t>
            </a:r>
            <a:r>
              <a:rPr lang="it-IT" sz="1400" dirty="0" err="1">
                <a:latin typeface="Lucida Bright" panose="02040602050505020304" pitchFamily="18" charset="77"/>
              </a:rPr>
              <a:t>estimation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		</a:t>
            </a:r>
            <a:r>
              <a:rPr lang="it-IT" sz="1400" dirty="0" err="1">
                <a:latin typeface="Lucida Bright" panose="02040602050505020304" pitchFamily="18" charset="77"/>
              </a:rPr>
              <a:t>Periodogram</a:t>
            </a:r>
            <a:r>
              <a:rPr lang="it-IT" sz="1400" dirty="0">
                <a:latin typeface="Lucida Bright" panose="02040602050505020304" pitchFamily="18" charset="77"/>
              </a:rPr>
              <a:t>: high resolution, </a:t>
            </a:r>
            <a:r>
              <a:rPr lang="it-IT" sz="1400" dirty="0" err="1">
                <a:latin typeface="Lucida Bright" panose="02040602050505020304" pitchFamily="18" charset="77"/>
              </a:rPr>
              <a:t>higher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variance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		Welch: </a:t>
            </a:r>
            <a:r>
              <a:rPr lang="it-IT" sz="1400" dirty="0" err="1">
                <a:latin typeface="Lucida Bright" panose="02040602050505020304" pitchFamily="18" charset="77"/>
              </a:rPr>
              <a:t>averaged</a:t>
            </a:r>
            <a:r>
              <a:rPr lang="it-IT" sz="1400" dirty="0">
                <a:latin typeface="Lucida Bright" panose="02040602050505020304" pitchFamily="18" charset="77"/>
              </a:rPr>
              <a:t> segments, </a:t>
            </a:r>
            <a:r>
              <a:rPr lang="it-IT" sz="1400" dirty="0" err="1">
                <a:latin typeface="Lucida Bright" panose="02040602050505020304" pitchFamily="18" charset="77"/>
              </a:rPr>
              <a:t>smoother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spectrum</a:t>
            </a:r>
            <a:endParaRPr lang="it-IT" sz="1400" dirty="0">
              <a:latin typeface="Lucida Bright" panose="02040602050505020304" pitchFamily="18" charset="77"/>
            </a:endParaRPr>
          </a:p>
          <a:p>
            <a:endParaRPr lang="it-IT" sz="1400" dirty="0">
              <a:latin typeface="Lucida Bright" panose="02040602050505020304" pitchFamily="18" charset="77"/>
            </a:endParaRPr>
          </a:p>
          <a:p>
            <a:pPr marL="342900" indent="-342900">
              <a:buAutoNum type="arabicPeriod" startAt="2"/>
            </a:pPr>
            <a:r>
              <a:rPr lang="it-IT" sz="1400" dirty="0">
                <a:latin typeface="Lucida Bright" panose="02040602050505020304" pitchFamily="18" charset="77"/>
              </a:rPr>
              <a:t>Search band: 0.05 – 0.7 Hz (</a:t>
            </a:r>
            <a:r>
              <a:rPr lang="it-IT" sz="1400" dirty="0" err="1">
                <a:latin typeface="Lucida Bright" panose="02040602050505020304" pitchFamily="18" charset="77"/>
              </a:rPr>
              <a:t>equivalent</a:t>
            </a:r>
            <a:r>
              <a:rPr lang="it-IT" sz="1400" dirty="0">
                <a:latin typeface="Lucida Bright" panose="02040602050505020304" pitchFamily="18" charset="77"/>
              </a:rPr>
              <a:t> to 3-42 </a:t>
            </a:r>
            <a:r>
              <a:rPr lang="it-IT" sz="1400" dirty="0" err="1">
                <a:latin typeface="Lucida Bright" panose="02040602050505020304" pitchFamily="18" charset="77"/>
              </a:rPr>
              <a:t>breaths</a:t>
            </a:r>
            <a:r>
              <a:rPr lang="it-IT" sz="1400" dirty="0">
                <a:latin typeface="Lucida Bright" panose="02040602050505020304" pitchFamily="18" charset="77"/>
              </a:rPr>
              <a:t>/min)</a:t>
            </a:r>
          </a:p>
          <a:p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3.    </a:t>
            </a:r>
            <a:r>
              <a:rPr lang="it-IT" sz="1400" dirty="0" err="1">
                <a:latin typeface="Lucida Bright" panose="02040602050505020304" pitchFamily="18" charset="77"/>
              </a:rPr>
              <a:t>Find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dominant</a:t>
            </a:r>
            <a:r>
              <a:rPr lang="it-IT" sz="1400" dirty="0">
                <a:latin typeface="Lucida Bright" panose="02040602050505020304" pitchFamily="18" charset="77"/>
              </a:rPr>
              <a:t> frequency inside the band </a:t>
            </a:r>
            <a:r>
              <a:rPr lang="it-IT" sz="1400" i="1" dirty="0" err="1">
                <a:latin typeface="Lucida Bright" panose="02040602050505020304" pitchFamily="18" charset="77"/>
              </a:rPr>
              <a:t>f</a:t>
            </a:r>
            <a:r>
              <a:rPr lang="it-IT" sz="1400" i="1" baseline="-25000" dirty="0" err="1">
                <a:latin typeface="Lucida Bright" panose="02040602050505020304" pitchFamily="18" charset="77"/>
              </a:rPr>
              <a:t>resp</a:t>
            </a:r>
            <a:endParaRPr lang="it-IT" sz="1400" i="1" dirty="0">
              <a:latin typeface="Lucida Bright" panose="02040602050505020304" pitchFamily="18" charset="77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54E6F87-D7A8-532A-4CF2-A37FDDA8036F}"/>
              </a:ext>
            </a:extLst>
          </p:cNvPr>
          <p:cNvSpPr txBox="1"/>
          <p:nvPr/>
        </p:nvSpPr>
        <p:spPr>
          <a:xfrm>
            <a:off x="5189139" y="5260246"/>
            <a:ext cx="4611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Respiratory</a:t>
            </a:r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 Rate</a:t>
            </a:r>
            <a:endParaRPr lang="it-IT" sz="2000" dirty="0">
              <a:latin typeface="Lucida Bright" panose="02040602050505020304" pitchFamily="18" charset="77"/>
            </a:endParaRPr>
          </a:p>
          <a:p>
            <a:endParaRPr lang="it-IT" sz="2400" dirty="0">
              <a:latin typeface="Lucida Bright" panose="02040602050505020304" pitchFamily="18" charset="77"/>
            </a:endParaRPr>
          </a:p>
        </p:txBody>
      </p:sp>
      <p:cxnSp>
        <p:nvCxnSpPr>
          <p:cNvPr id="41" name="Connettore 1 30">
            <a:extLst>
              <a:ext uri="{FF2B5EF4-FFF2-40B4-BE49-F238E27FC236}">
                <a16:creationId xmlns:a16="http://schemas.microsoft.com/office/drawing/2014/main" id="{DD36231C-B3B4-B41D-2E81-B7155501EC0A}"/>
              </a:ext>
            </a:extLst>
          </p:cNvPr>
          <p:cNvCxnSpPr>
            <a:cxnSpLocks/>
          </p:cNvCxnSpPr>
          <p:nvPr/>
        </p:nvCxnSpPr>
        <p:spPr>
          <a:xfrm>
            <a:off x="5189139" y="5717977"/>
            <a:ext cx="6306175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78F70674-4A30-AAEB-E53D-390C54609BB9}"/>
              </a:ext>
            </a:extLst>
          </p:cNvPr>
          <p:cNvSpPr txBox="1"/>
          <p:nvPr/>
        </p:nvSpPr>
        <p:spPr>
          <a:xfrm>
            <a:off x="5143645" y="5811945"/>
            <a:ext cx="61217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4.    RR = 60 * </a:t>
            </a:r>
            <a:r>
              <a:rPr lang="it-IT" sz="1400" i="1" dirty="0" err="1">
                <a:latin typeface="Lucida Bright" panose="02040602050505020304" pitchFamily="18" charset="77"/>
              </a:rPr>
              <a:t>f</a:t>
            </a:r>
            <a:r>
              <a:rPr lang="it-IT" sz="1400" i="1" baseline="-25000" dirty="0" err="1">
                <a:latin typeface="Lucida Bright" panose="02040602050505020304" pitchFamily="18" charset="77"/>
              </a:rPr>
              <a:t>resp</a:t>
            </a:r>
            <a:endParaRPr lang="it-IT" sz="1400" i="1" baseline="-25000" dirty="0">
              <a:latin typeface="Lucida Bright" panose="02040602050505020304" pitchFamily="18" charset="77"/>
            </a:endParaRPr>
          </a:p>
          <a:p>
            <a:endParaRPr lang="it-IT" sz="1400" i="1" dirty="0">
              <a:latin typeface="Lucida Bright" panose="02040602050505020304" pitchFamily="18" charset="77"/>
            </a:endParaRPr>
          </a:p>
          <a:p>
            <a:endParaRPr lang="it-IT" sz="1400" dirty="0">
              <a:latin typeface="Lucida Bright" panose="02040602050505020304" pitchFamily="18" charset="77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355A817-59FE-49FF-94C3-028412A717A1}"/>
              </a:ext>
            </a:extLst>
          </p:cNvPr>
          <p:cNvSpPr txBox="1"/>
          <p:nvPr/>
        </p:nvSpPr>
        <p:spPr>
          <a:xfrm>
            <a:off x="301025" y="5485455"/>
            <a:ext cx="44678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../data/person2/person2_normal.csv</a:t>
            </a:r>
          </a:p>
          <a:p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Frequency of maximum PSD: 	0.12 Hz</a:t>
            </a:r>
          </a:p>
          <a:p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  <a:sym typeface="Wingdings" pitchFamily="2" charset="2"/>
              </a:rPr>
              <a:t> RR: 			  	    	7.30 </a:t>
            </a:r>
            <a:r>
              <a:rPr lang="it-IT" sz="1400" dirty="0" err="1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  <a:sym typeface="Wingdings" pitchFamily="2" charset="2"/>
              </a:rPr>
              <a:t>breaths</a:t>
            </a:r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  <a:sym typeface="Wingdings" pitchFamily="2" charset="2"/>
              </a:rPr>
              <a:t>/min</a:t>
            </a:r>
            <a:endParaRPr lang="it-IT" sz="1400" dirty="0">
              <a:solidFill>
                <a:schemeClr val="accent5">
                  <a:lumMod val="75000"/>
                </a:schemeClr>
              </a:solidFill>
              <a:latin typeface="Lucida Bright" panose="02040602050505020304" pitchFamily="18" charset="77"/>
            </a:endParaRPr>
          </a:p>
        </p:txBody>
      </p:sp>
      <p:sp>
        <p:nvSpPr>
          <p:cNvPr id="10" name="Rectangle: Rounded Corners 30">
            <a:extLst>
              <a:ext uri="{FF2B5EF4-FFF2-40B4-BE49-F238E27FC236}">
                <a16:creationId xmlns:a16="http://schemas.microsoft.com/office/drawing/2014/main" id="{22D5C47D-B239-03CC-3F70-FA73BAF9B33F}"/>
              </a:ext>
            </a:extLst>
          </p:cNvPr>
          <p:cNvSpPr/>
          <p:nvPr/>
        </p:nvSpPr>
        <p:spPr>
          <a:xfrm>
            <a:off x="6814783" y="3865002"/>
            <a:ext cx="1647351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periodogram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1E8D8F-178C-11F5-FEA1-0AA6D9D94B7D}"/>
              </a:ext>
            </a:extLst>
          </p:cNvPr>
          <p:cNvSpPr txBox="1"/>
          <p:nvPr/>
        </p:nvSpPr>
        <p:spPr>
          <a:xfrm>
            <a:off x="5143645" y="4243664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1x5982 signal</a:t>
            </a:r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AE40BF78-5CCF-EB89-0407-ACEA94CED8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275095">
            <a:off x="6449081" y="4143101"/>
            <a:ext cx="365125" cy="365125"/>
          </a:xfrm>
          <a:prstGeom prst="rect">
            <a:avLst/>
          </a:prstGeom>
        </p:spPr>
      </p:pic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8204C1D7-F7D3-436D-DC7B-B5148BA0F7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41371">
            <a:off x="6443226" y="4323335"/>
            <a:ext cx="365125" cy="365125"/>
          </a:xfrm>
          <a:prstGeom prst="rect">
            <a:avLst/>
          </a:prstGeom>
        </p:spPr>
      </p:pic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9F850020-93DF-0669-07BC-2B4DBEF57E7F}"/>
              </a:ext>
            </a:extLst>
          </p:cNvPr>
          <p:cNvSpPr/>
          <p:nvPr/>
        </p:nvSpPr>
        <p:spPr>
          <a:xfrm>
            <a:off x="6806430" y="4466875"/>
            <a:ext cx="1647351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pwelch</a:t>
            </a:r>
          </a:p>
        </p:txBody>
      </p:sp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B4EA62E8-A198-8D50-8FC4-0D12D451FE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3122" y="4265683"/>
            <a:ext cx="365125" cy="365125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724BF556-04BD-1DCF-D5F3-C605180028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074" y="3865270"/>
            <a:ext cx="365125" cy="365125"/>
          </a:xfrm>
          <a:prstGeom prst="rect">
            <a:avLst/>
          </a:prstGeom>
        </p:spPr>
      </p:pic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83011DFF-F874-F58B-E300-BE2A3DE360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074" y="4630808"/>
            <a:ext cx="365125" cy="365125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698C22C-9DF6-B4EB-3A53-EB90587D269D}"/>
              </a:ext>
            </a:extLst>
          </p:cNvPr>
          <p:cNvSpPr txBox="1"/>
          <p:nvPr/>
        </p:nvSpPr>
        <p:spPr>
          <a:xfrm>
            <a:off x="10682527" y="4637005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i="1" dirty="0" err="1">
                <a:latin typeface="Lucida Bright" panose="02040602050505020304" pitchFamily="18" charset="77"/>
              </a:rPr>
              <a:t>f</a:t>
            </a:r>
            <a:r>
              <a:rPr lang="it-IT" sz="1400" i="1" baseline="-25000" dirty="0" err="1">
                <a:latin typeface="Lucida Bright" panose="02040602050505020304" pitchFamily="18" charset="77"/>
              </a:rPr>
              <a:t>dom_welch</a:t>
            </a:r>
            <a:endParaRPr lang="it-IT" sz="1400" i="1" dirty="0">
              <a:latin typeface="Lucida Bright" panose="02040602050505020304" pitchFamily="18" charset="77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0AC99FC-EF04-18FA-200C-9195B920C66B}"/>
              </a:ext>
            </a:extLst>
          </p:cNvPr>
          <p:cNvSpPr txBox="1"/>
          <p:nvPr/>
        </p:nvSpPr>
        <p:spPr>
          <a:xfrm>
            <a:off x="10684611" y="3858385"/>
            <a:ext cx="755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i="1" dirty="0" err="1">
                <a:latin typeface="Lucida Bright" panose="02040602050505020304" pitchFamily="18" charset="77"/>
              </a:rPr>
              <a:t>f</a:t>
            </a:r>
            <a:r>
              <a:rPr lang="it-IT" sz="1400" i="1" baseline="-25000" dirty="0" err="1">
                <a:latin typeface="Lucida Bright" panose="02040602050505020304" pitchFamily="18" charset="77"/>
              </a:rPr>
              <a:t>dom_per</a:t>
            </a:r>
            <a:endParaRPr lang="it-IT" sz="1400" i="1" dirty="0">
              <a:latin typeface="Lucida Bright" panose="02040602050505020304" pitchFamily="18" charset="77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BF83970-BF70-6D87-94DB-1E49FB76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17" y="-12543"/>
            <a:ext cx="4347943" cy="83637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it-IT" sz="3000" dirty="0" err="1">
                <a:latin typeface="Garamond" panose="02020404030301010803" pitchFamily="18" charset="0"/>
              </a:rPr>
              <a:t>Respiration</a:t>
            </a:r>
            <a:r>
              <a:rPr lang="it-IT" sz="3000" dirty="0">
                <a:latin typeface="Garamond" panose="02020404030301010803" pitchFamily="18" charset="0"/>
              </a:rPr>
              <a:t> Rate Detection</a:t>
            </a:r>
          </a:p>
        </p:txBody>
      </p:sp>
      <p:pic>
        <p:nvPicPr>
          <p:cNvPr id="8" name="Immagine 7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56006A2B-9DF5-68DF-9C9B-68D576B057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469" y="2252351"/>
            <a:ext cx="4784557" cy="3224375"/>
          </a:xfrm>
          <a:prstGeom prst="rect">
            <a:avLst/>
          </a:prstGeom>
        </p:spPr>
      </p:pic>
      <p:sp>
        <p:nvSpPr>
          <p:cNvPr id="29" name="Rectangle: Rounded Corners 30">
            <a:extLst>
              <a:ext uri="{FF2B5EF4-FFF2-40B4-BE49-F238E27FC236}">
                <a16:creationId xmlns:a16="http://schemas.microsoft.com/office/drawing/2014/main" id="{5569D074-AD60-A1D6-9698-5BE30DAA25A5}"/>
              </a:ext>
            </a:extLst>
          </p:cNvPr>
          <p:cNvSpPr/>
          <p:nvPr/>
        </p:nvSpPr>
        <p:spPr>
          <a:xfrm>
            <a:off x="8818247" y="4170604"/>
            <a:ext cx="1647351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Band 0.05-0.7 Hz</a:t>
            </a:r>
          </a:p>
        </p:txBody>
      </p:sp>
    </p:spTree>
    <p:extLst>
      <p:ext uri="{BB962C8B-B14F-4D97-AF65-F5344CB8AC3E}">
        <p14:creationId xmlns:p14="http://schemas.microsoft.com/office/powerpoint/2010/main" val="166898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1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C839-A8AE-B7A3-752E-0D6AB8F12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3FCA1F-3C57-A7C4-7C0A-A25C3D9B3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17" y="69511"/>
            <a:ext cx="4513509" cy="1127975"/>
          </a:xfrm>
        </p:spPr>
        <p:txBody>
          <a:bodyPr>
            <a:noAutofit/>
          </a:bodyPr>
          <a:lstStyle/>
          <a:p>
            <a:r>
              <a:rPr lang="it-IT" sz="3000" dirty="0" err="1">
                <a:latin typeface="Garamond" panose="02020404030301010803" pitchFamily="18" charset="0"/>
              </a:rPr>
              <a:t>Respiration</a:t>
            </a:r>
            <a:r>
              <a:rPr lang="it-IT" sz="3000" dirty="0">
                <a:latin typeface="Garamond" panose="02020404030301010803" pitchFamily="18" charset="0"/>
              </a:rPr>
              <a:t> Rate Detection</a:t>
            </a:r>
            <a:br>
              <a:rPr lang="it-IT" sz="3000" dirty="0">
                <a:latin typeface="Garamond" panose="02020404030301010803" pitchFamily="18" charset="0"/>
              </a:rPr>
            </a:br>
            <a:r>
              <a:rPr lang="it-IT" sz="3000" b="1" dirty="0">
                <a:solidFill>
                  <a:schemeClr val="accent4"/>
                </a:solidFill>
                <a:latin typeface="Garamond" panose="02020404030301010803" pitchFamily="18" charset="0"/>
              </a:rPr>
              <a:t>Results</a:t>
            </a:r>
            <a:r>
              <a:rPr lang="it-IT" sz="3000" b="1" dirty="0"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589DA929-DBDB-B9FB-DC3A-1D56C03B9F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EB5CE19-E077-DE7D-9240-4D5A38B49C2A}"/>
              </a:ext>
            </a:extLst>
          </p:cNvPr>
          <p:cNvSpPr txBox="1"/>
          <p:nvPr/>
        </p:nvSpPr>
        <p:spPr>
          <a:xfrm>
            <a:off x="4528109" y="515069"/>
            <a:ext cx="7583973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Lucida Bright" panose="02040602050505020304" pitchFamily="18" charset="77"/>
              </a:rPr>
              <a:t>Low-pass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PCA  Time-domain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–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Autocorrelation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		    RR </a:t>
            </a: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        Frequency-domain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analysis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– Power Spectral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Density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Periodogram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RR</a:t>
            </a: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												        Welch 	    RR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EFD2946-7D85-2669-561C-8BCA389316BB}"/>
              </a:ext>
            </a:extLst>
          </p:cNvPr>
          <p:cNvSpPr txBox="1"/>
          <p:nvPr/>
        </p:nvSpPr>
        <p:spPr>
          <a:xfrm>
            <a:off x="4528108" y="169437"/>
            <a:ext cx="1096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8CA4CE5D-04C5-7093-7918-4B7FDFDE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2217" y="63692"/>
            <a:ext cx="565266" cy="540051"/>
          </a:xfrm>
        </p:spPr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6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27" name="Segnaposto piè di pagina 3">
            <a:extLst>
              <a:ext uri="{FF2B5EF4-FFF2-40B4-BE49-F238E27FC236}">
                <a16:creationId xmlns:a16="http://schemas.microsoft.com/office/drawing/2014/main" id="{5B33A5AB-9CFF-A4E8-DAF8-4018D891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163" y="6492875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3551FEBE-7250-EEE6-F369-C73760CC9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093546"/>
              </p:ext>
            </p:extLst>
          </p:nvPr>
        </p:nvGraphicFramePr>
        <p:xfrm>
          <a:off x="1345890" y="1678169"/>
          <a:ext cx="9500220" cy="422896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83370">
                  <a:extLst>
                    <a:ext uri="{9D8B030D-6E8A-4147-A177-3AD203B41FA5}">
                      <a16:colId xmlns:a16="http://schemas.microsoft.com/office/drawing/2014/main" val="1352521286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2350932526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3739913571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666640165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2500558269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2668986411"/>
                    </a:ext>
                  </a:extLst>
                </a:gridCol>
              </a:tblGrid>
              <a:tr h="740781"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Slow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Fast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 err="1">
                          <a:latin typeface="Lucida Bright" panose="02040602050505020304" pitchFamily="18" charset="77"/>
                        </a:rPr>
                        <a:t>Spontaneous</a:t>
                      </a:r>
                      <a:endParaRPr lang="it-IT" sz="1400" dirty="0">
                        <a:latin typeface="Lucida Bright" panose="02040602050505020304" pitchFamily="18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Apnea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 err="1">
                          <a:latin typeface="Lucida Bright" panose="02040602050505020304" pitchFamily="18" charset="77"/>
                        </a:rPr>
                        <a:t>Movements</a:t>
                      </a:r>
                      <a:endParaRPr lang="it-IT" sz="1400" dirty="0">
                        <a:latin typeface="Lucida Bright" panose="02040602050505020304" pitchFamily="18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246033"/>
                  </a:ext>
                </a:extLst>
              </a:tr>
              <a:tr h="1149730"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Person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dirty="0">
                          <a:latin typeface="Lucida Bright" panose="02040602050505020304" pitchFamily="18" charset="77"/>
                        </a:rPr>
                        <a:t>6.09</a:t>
                      </a:r>
                      <a:r>
                        <a:rPr lang="it-IT" sz="1800" dirty="0">
                          <a:latin typeface="Lucida Bright" panose="02040602050505020304" pitchFamily="18" charset="77"/>
                        </a:rPr>
                        <a:t> / </a:t>
                      </a:r>
                    </a:p>
                    <a:p>
                      <a:r>
                        <a:rPr lang="it-IT" sz="1800" dirty="0">
                          <a:latin typeface="Lucida Bright" panose="02040602050505020304" pitchFamily="18" charset="77"/>
                        </a:rPr>
                        <a:t>5.84 / </a:t>
                      </a:r>
                    </a:p>
                    <a:p>
                      <a:r>
                        <a:rPr lang="it-IT" sz="1800" dirty="0">
                          <a:latin typeface="Lucida Bright" panose="02040602050505020304" pitchFamily="18" charset="77"/>
                        </a:rPr>
                        <a:t>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dirty="0">
                          <a:latin typeface="Lucida Bright" panose="02040602050505020304" pitchFamily="18" charset="77"/>
                        </a:rPr>
                        <a:t>14.88</a:t>
                      </a:r>
                      <a:r>
                        <a:rPr lang="it-IT" sz="1800" dirty="0">
                          <a:latin typeface="Lucida Bright" panose="02040602050505020304" pitchFamily="18" charset="77"/>
                        </a:rPr>
                        <a:t> / 14.60 /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latin typeface="Lucida Bright" panose="02040602050505020304" pitchFamily="18" charset="77"/>
                        </a:rPr>
                        <a:t>15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latin typeface="Lucida Bright" panose="02040602050505020304" pitchFamily="18" charset="77"/>
                        </a:rPr>
                        <a:t>3.70 /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latin typeface="Lucida Bright" panose="02040602050505020304" pitchFamily="18" charset="77"/>
                        </a:rPr>
                        <a:t>3.65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latin typeface="Lucida Bright" panose="02040602050505020304" pitchFamily="18" charset="77"/>
                        </a:rPr>
                        <a:t>7.30 /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latin typeface="Lucida Bright" panose="02040602050505020304" pitchFamily="18" charset="77"/>
                        </a:rPr>
                        <a:t>5.84</a:t>
                      </a:r>
                    </a:p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31.65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5.11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4.38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182613"/>
                  </a:ext>
                </a:extLst>
              </a:tr>
              <a:tr h="1149730"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Person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>
                          <a:latin typeface="Lucida Bright" panose="02040602050505020304" pitchFamily="18" charset="77"/>
                        </a:rPr>
                        <a:t>7.58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7.30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>
                          <a:latin typeface="Lucida Bright" panose="02040602050505020304" pitchFamily="18" charset="77"/>
                        </a:rPr>
                        <a:t>14.92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14.60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7.68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7.30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Nan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3.65 / 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4.38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17.49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17.52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17.52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16482"/>
                  </a:ext>
                </a:extLst>
              </a:tr>
              <a:tr h="1149730"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Person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b="1" dirty="0">
                          <a:latin typeface="Lucida Bright" panose="02040602050505020304" pitchFamily="18" charset="77"/>
                        </a:rPr>
                        <a:t>4.85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4.38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30.36 /</a:t>
                      </a:r>
                    </a:p>
                    <a:p>
                      <a:r>
                        <a:rPr lang="it-IT" b="1" dirty="0">
                          <a:latin typeface="Lucida Bright" panose="02040602050505020304" pitchFamily="18" charset="77"/>
                        </a:rPr>
                        <a:t>29.93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13.00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13.14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14.8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Nan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16.34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9.49 /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16.06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98468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CED3F2B0-F802-C14C-39C4-D2AF79F91306}"/>
              </a:ext>
            </a:extLst>
          </p:cNvPr>
          <p:cNvSpPr txBox="1"/>
          <p:nvPr/>
        </p:nvSpPr>
        <p:spPr>
          <a:xfrm>
            <a:off x="1345890" y="5928223"/>
            <a:ext cx="4698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Values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shown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as: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Autocorrelation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/ PSD / Reference</a:t>
            </a:r>
          </a:p>
        </p:txBody>
      </p:sp>
      <p:sp>
        <p:nvSpPr>
          <p:cNvPr id="8" name="Parentesi quadra aperta 7">
            <a:extLst>
              <a:ext uri="{FF2B5EF4-FFF2-40B4-BE49-F238E27FC236}">
                <a16:creationId xmlns:a16="http://schemas.microsoft.com/office/drawing/2014/main" id="{3FCD305F-23CB-C9B8-BA19-BE97FD76BB40}"/>
              </a:ext>
            </a:extLst>
          </p:cNvPr>
          <p:cNvSpPr/>
          <p:nvPr/>
        </p:nvSpPr>
        <p:spPr>
          <a:xfrm rot="5400000">
            <a:off x="4422813" y="-69778"/>
            <a:ext cx="187109" cy="3159263"/>
          </a:xfrm>
          <a:prstGeom prst="lef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D194F00-70BB-13B0-2C38-5F56A6CE1B44}"/>
              </a:ext>
            </a:extLst>
          </p:cNvPr>
          <p:cNvSpPr txBox="1"/>
          <p:nvPr/>
        </p:nvSpPr>
        <p:spPr>
          <a:xfrm>
            <a:off x="4246100" y="1370392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CBP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5DFEAC6-4CBD-0710-6040-08F631317AFA}"/>
              </a:ext>
            </a:extLst>
          </p:cNvPr>
          <p:cNvSpPr txBox="1"/>
          <p:nvPr/>
        </p:nvSpPr>
        <p:spPr>
          <a:xfrm>
            <a:off x="6095999" y="5928223"/>
            <a:ext cx="6117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Values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shown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as: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Autocorrelation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/ PSD or</a:t>
            </a:r>
          </a:p>
          <a:p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			 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Autocorrelation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/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Periodogram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/ Welch</a:t>
            </a:r>
          </a:p>
        </p:txBody>
      </p:sp>
    </p:spTree>
    <p:extLst>
      <p:ext uri="{BB962C8B-B14F-4D97-AF65-F5344CB8AC3E}">
        <p14:creationId xmlns:p14="http://schemas.microsoft.com/office/powerpoint/2010/main" val="2574147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FA1CE-DE8B-7892-9F07-913E496C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74699B-B15E-CF00-D933-75E00CA56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51" y="-236797"/>
            <a:ext cx="4078184" cy="1154758"/>
          </a:xfrm>
        </p:spPr>
        <p:txBody>
          <a:bodyPr>
            <a:normAutofit/>
          </a:bodyPr>
          <a:lstStyle/>
          <a:p>
            <a:r>
              <a:rPr lang="it-IT" sz="3000" dirty="0">
                <a:latin typeface="Garamond" panose="02020404030301010803" pitchFamily="18" charset="0"/>
              </a:rPr>
              <a:t>Heart Rate Detection</a:t>
            </a:r>
          </a:p>
        </p:txBody>
      </p:sp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B584FF93-C93A-64E8-ECA9-95915B23A0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A7D6D31-0304-F725-DE75-713B427DE1E8}"/>
              </a:ext>
            </a:extLst>
          </p:cNvPr>
          <p:cNvSpPr txBox="1"/>
          <p:nvPr/>
        </p:nvSpPr>
        <p:spPr>
          <a:xfrm>
            <a:off x="1821919" y="4923845"/>
            <a:ext cx="8622650" cy="338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Lucida Bright" panose="02040602050505020304" pitchFamily="18" charset="77"/>
              </a:rPr>
              <a:t>Band-pass filter </a:t>
            </a:r>
            <a:r>
              <a:rPr lang="it-IT" sz="16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600" dirty="0" err="1">
                <a:latin typeface="Lucida Bright" panose="02040602050505020304" pitchFamily="18" charset="77"/>
                <a:sym typeface="Wingdings" pitchFamily="2" charset="2"/>
              </a:rPr>
              <a:t>Find</a:t>
            </a:r>
            <a:r>
              <a:rPr lang="it-IT" sz="1600" dirty="0"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600" dirty="0" err="1">
                <a:latin typeface="Lucida Bright" panose="02040602050505020304" pitchFamily="18" charset="77"/>
                <a:sym typeface="Wingdings" pitchFamily="2" charset="2"/>
              </a:rPr>
              <a:t>peaks</a:t>
            </a:r>
            <a:r>
              <a:rPr lang="it-IT" sz="1600" dirty="0">
                <a:latin typeface="Lucida Bright" panose="02040602050505020304" pitchFamily="18" charset="77"/>
                <a:sym typeface="Wingdings" pitchFamily="2" charset="2"/>
              </a:rPr>
              <a:t>  Build template  Compute cross-</a:t>
            </a:r>
            <a:r>
              <a:rPr lang="it-IT" sz="1600" dirty="0" err="1">
                <a:latin typeface="Lucida Bright" panose="02040602050505020304" pitchFamily="18" charset="77"/>
                <a:sym typeface="Wingdings" pitchFamily="2" charset="2"/>
              </a:rPr>
              <a:t>correlation</a:t>
            </a:r>
            <a:r>
              <a:rPr lang="it-IT" sz="1600" dirty="0">
                <a:latin typeface="Lucida Bright" panose="02040602050505020304" pitchFamily="18" charset="77"/>
                <a:sym typeface="Wingdings" pitchFamily="2" charset="2"/>
              </a:rPr>
              <a:t>  HR </a:t>
            </a:r>
            <a:endParaRPr lang="it-IT" sz="16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194D1FC-1D4A-F439-2607-F800B8A4CA8E}"/>
              </a:ext>
            </a:extLst>
          </p:cNvPr>
          <p:cNvSpPr txBox="1"/>
          <p:nvPr/>
        </p:nvSpPr>
        <p:spPr>
          <a:xfrm>
            <a:off x="1821918" y="4624126"/>
            <a:ext cx="1076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6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88FDF93-6809-0565-F7D8-E3887C4EEB7B}"/>
              </a:ext>
            </a:extLst>
          </p:cNvPr>
          <p:cNvSpPr txBox="1"/>
          <p:nvPr/>
        </p:nvSpPr>
        <p:spPr>
          <a:xfrm>
            <a:off x="196090" y="1427092"/>
            <a:ext cx="5226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SCG signal (seismocardiography)</a:t>
            </a:r>
          </a:p>
        </p:txBody>
      </p:sp>
      <p:cxnSp>
        <p:nvCxnSpPr>
          <p:cNvPr id="14" name="Connettore 1 30">
            <a:extLst>
              <a:ext uri="{FF2B5EF4-FFF2-40B4-BE49-F238E27FC236}">
                <a16:creationId xmlns:a16="http://schemas.microsoft.com/office/drawing/2014/main" id="{A46D338A-1E45-3A4D-E809-E2FB6E0AFD42}"/>
              </a:ext>
            </a:extLst>
          </p:cNvPr>
          <p:cNvCxnSpPr>
            <a:cxnSpLocks/>
          </p:cNvCxnSpPr>
          <p:nvPr/>
        </p:nvCxnSpPr>
        <p:spPr>
          <a:xfrm>
            <a:off x="196090" y="1869507"/>
            <a:ext cx="541429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egnaposto numero diapositiva 15">
            <a:extLst>
              <a:ext uri="{FF2B5EF4-FFF2-40B4-BE49-F238E27FC236}">
                <a16:creationId xmlns:a16="http://schemas.microsoft.com/office/drawing/2014/main" id="{FF8B1CD5-AFCC-88C4-2EB2-357ACD9C7A3E}"/>
              </a:ext>
            </a:extLst>
          </p:cNvPr>
          <p:cNvSpPr txBox="1">
            <a:spLocks/>
          </p:cNvSpPr>
          <p:nvPr/>
        </p:nvSpPr>
        <p:spPr>
          <a:xfrm>
            <a:off x="11532217" y="63692"/>
            <a:ext cx="565266" cy="540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7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F886673E-F513-69B5-A381-12874E4C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pic>
        <p:nvPicPr>
          <p:cNvPr id="5" name="Immagine 4" descr="Immagine che contiene linea, diagramm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BE2FF7B2-A10C-8B9B-AFD8-6A9B14A82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350" y="1025413"/>
            <a:ext cx="5621867" cy="2922945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89390D5-B0D9-189E-005A-B8A896FAA4A0}"/>
              </a:ext>
            </a:extLst>
          </p:cNvPr>
          <p:cNvSpPr txBox="1"/>
          <p:nvPr/>
        </p:nvSpPr>
        <p:spPr>
          <a:xfrm>
            <a:off x="413660" y="2178673"/>
            <a:ext cx="481093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Lucida Bright" panose="02040602050505020304" pitchFamily="18" charset="77"/>
              </a:rPr>
              <a:t>Mechanical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vibrations</a:t>
            </a:r>
            <a:r>
              <a:rPr lang="it-IT" sz="1400" dirty="0">
                <a:latin typeface="Lucida Bright" panose="02040602050505020304" pitchFamily="18" charset="77"/>
              </a:rPr>
              <a:t> of the </a:t>
            </a:r>
            <a:r>
              <a:rPr lang="it-IT" sz="1400" dirty="0" err="1">
                <a:latin typeface="Lucida Bright" panose="02040602050505020304" pitchFamily="18" charset="77"/>
              </a:rPr>
              <a:t>chest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wall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Lucida Bright" panose="02040602050505020304" pitchFamily="18" charset="77"/>
              </a:rPr>
              <a:t>Measured</a:t>
            </a:r>
            <a:r>
              <a:rPr lang="it-IT" sz="1400" dirty="0">
                <a:latin typeface="Lucida Bright" panose="02040602050505020304" pitchFamily="18" charset="77"/>
              </a:rPr>
              <a:t> by </a:t>
            </a:r>
            <a:r>
              <a:rPr lang="it-IT" sz="1400" dirty="0" err="1">
                <a:latin typeface="Lucida Bright" panose="02040602050505020304" pitchFamily="18" charset="77"/>
              </a:rPr>
              <a:t>accelerometer</a:t>
            </a:r>
            <a:endParaRPr lang="it-IT" sz="1400" dirty="0">
              <a:latin typeface="Lucida Bright" panose="02040602050505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Lucida Bright" panose="02040602050505020304" pitchFamily="18" charset="77"/>
              </a:rPr>
              <a:t>Each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heart</a:t>
            </a:r>
            <a:r>
              <a:rPr lang="it-IT" sz="1400" dirty="0">
                <a:latin typeface="Lucida Bright" panose="02040602050505020304" pitchFamily="18" charset="77"/>
              </a:rPr>
              <a:t>-beat 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400" dirty="0" err="1">
                <a:latin typeface="Lucida Bright" panose="02040602050505020304" pitchFamily="18" charset="77"/>
                <a:sym typeface="Wingdings" pitchFamily="2" charset="2"/>
              </a:rPr>
              <a:t>characteristic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  <a:sym typeface="Wingdings" pitchFamily="2" charset="2"/>
              </a:rPr>
              <a:t>vibration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 pattern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IVC: low amplitude, noise-sensitive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AO</a:t>
            </a:r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: strong and </a:t>
            </a:r>
            <a:r>
              <a:rPr lang="it-IT" sz="14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repeatable</a:t>
            </a:r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peak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AC: </a:t>
            </a:r>
            <a:r>
              <a:rPr lang="it-IT" sz="1400" dirty="0" err="1">
                <a:latin typeface="Lucida Bright" panose="02040602050505020304" pitchFamily="18" charset="77"/>
                <a:sym typeface="Wingdings" pitchFamily="2" charset="2"/>
              </a:rPr>
              <a:t>smaller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 and more variable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3A2CFBE-E27A-1346-3C57-1AAF0B91B815}"/>
              </a:ext>
            </a:extLst>
          </p:cNvPr>
          <p:cNvSpPr txBox="1"/>
          <p:nvPr/>
        </p:nvSpPr>
        <p:spPr>
          <a:xfrm>
            <a:off x="413660" y="3499529"/>
            <a:ext cx="3365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Lucida Bright" panose="02040602050505020304" pitchFamily="18" charset="77"/>
              </a:rPr>
              <a:t>Beat-to-beat </a:t>
            </a:r>
            <a:r>
              <a:rPr lang="it-IT" sz="1400" dirty="0" err="1">
                <a:latin typeface="Lucida Bright" panose="02040602050505020304" pitchFamily="18" charset="77"/>
              </a:rPr>
              <a:t>interval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400" dirty="0" err="1">
                <a:latin typeface="Lucida Bright" panose="02040602050505020304" pitchFamily="18" charset="77"/>
                <a:sym typeface="Wingdings" pitchFamily="2" charset="2"/>
              </a:rPr>
              <a:t>heart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 rate</a:t>
            </a:r>
            <a:endParaRPr lang="it-IT" sz="1400" dirty="0">
              <a:latin typeface="Lucida Bright" panose="02040602050505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7886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018E0-898E-42AF-CB13-D5448CFC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9D0D8B-6C16-B1D0-C17E-6981E2E20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51" y="-236797"/>
            <a:ext cx="4078184" cy="1154758"/>
          </a:xfrm>
        </p:spPr>
        <p:txBody>
          <a:bodyPr>
            <a:normAutofit/>
          </a:bodyPr>
          <a:lstStyle/>
          <a:p>
            <a:r>
              <a:rPr lang="it-IT" sz="3000" dirty="0">
                <a:latin typeface="Garamond" panose="02020404030301010803" pitchFamily="18" charset="0"/>
              </a:rPr>
              <a:t>Heart Rate Detection</a:t>
            </a:r>
          </a:p>
        </p:txBody>
      </p:sp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EE460A8D-983B-7F04-DBE4-B74E5C4F3E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9EFAFE-4532-7DBB-118A-0AB0C2E926AE}"/>
              </a:ext>
            </a:extLst>
          </p:cNvPr>
          <p:cNvSpPr txBox="1"/>
          <p:nvPr/>
        </p:nvSpPr>
        <p:spPr>
          <a:xfrm>
            <a:off x="5610382" y="527320"/>
            <a:ext cx="6443067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</a:rPr>
              <a:t>Band-pass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Find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peaks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Build template  Compute cross-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correlation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HR 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A865192-A677-1B0E-3B14-C8FEBDACB052}"/>
              </a:ext>
            </a:extLst>
          </p:cNvPr>
          <p:cNvSpPr txBox="1"/>
          <p:nvPr/>
        </p:nvSpPr>
        <p:spPr>
          <a:xfrm>
            <a:off x="5610382" y="227601"/>
            <a:ext cx="8045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egnaposto numero diapositiva 15">
            <a:extLst>
              <a:ext uri="{FF2B5EF4-FFF2-40B4-BE49-F238E27FC236}">
                <a16:creationId xmlns:a16="http://schemas.microsoft.com/office/drawing/2014/main" id="{EFC61F2B-1E69-8221-BC5E-4BEB309DA51A}"/>
              </a:ext>
            </a:extLst>
          </p:cNvPr>
          <p:cNvSpPr txBox="1">
            <a:spLocks/>
          </p:cNvSpPr>
          <p:nvPr/>
        </p:nvSpPr>
        <p:spPr>
          <a:xfrm>
            <a:off x="11532217" y="63692"/>
            <a:ext cx="565266" cy="540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8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D2EF9635-85ED-F0BC-7494-A7646AED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495B2E2-0B78-F9A1-92D0-41B23F86CC00}"/>
              </a:ext>
            </a:extLst>
          </p:cNvPr>
          <p:cNvSpPr txBox="1"/>
          <p:nvPr/>
        </p:nvSpPr>
        <p:spPr>
          <a:xfrm>
            <a:off x="196090" y="621381"/>
            <a:ext cx="5226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Band-pass filter &amp; </a:t>
            </a:r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axis</a:t>
            </a:r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 choice</a:t>
            </a:r>
          </a:p>
        </p:txBody>
      </p:sp>
      <p:cxnSp>
        <p:nvCxnSpPr>
          <p:cNvPr id="12" name="Connettore 1 30">
            <a:extLst>
              <a:ext uri="{FF2B5EF4-FFF2-40B4-BE49-F238E27FC236}">
                <a16:creationId xmlns:a16="http://schemas.microsoft.com/office/drawing/2014/main" id="{D3E19603-8C79-1A54-9EC1-508CA0DFD2F8}"/>
              </a:ext>
            </a:extLst>
          </p:cNvPr>
          <p:cNvCxnSpPr>
            <a:cxnSpLocks/>
          </p:cNvCxnSpPr>
          <p:nvPr/>
        </p:nvCxnSpPr>
        <p:spPr>
          <a:xfrm>
            <a:off x="196090" y="1046554"/>
            <a:ext cx="541429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magine 17" descr="Immagine che contiene testo, calligrafi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4D4D09CB-5B60-0BB6-A9E0-235894234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72" y="1362778"/>
            <a:ext cx="5226810" cy="3388093"/>
          </a:xfrm>
          <a:prstGeom prst="rect">
            <a:avLst/>
          </a:prstGeom>
        </p:spPr>
      </p:pic>
      <p:pic>
        <p:nvPicPr>
          <p:cNvPr id="9" name="Immagine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96621BB-C25C-24A2-E125-3B9D26D97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923" y="1335446"/>
            <a:ext cx="5226810" cy="3453594"/>
          </a:xfrm>
          <a:prstGeom prst="rect">
            <a:avLst/>
          </a:prstGeom>
        </p:spPr>
      </p:pic>
      <p:sp>
        <p:nvSpPr>
          <p:cNvPr id="10" name="Operazione manuale 9">
            <a:extLst>
              <a:ext uri="{FF2B5EF4-FFF2-40B4-BE49-F238E27FC236}">
                <a16:creationId xmlns:a16="http://schemas.microsoft.com/office/drawing/2014/main" id="{9175246B-295D-0C74-119D-9794B8DD6527}"/>
              </a:ext>
            </a:extLst>
          </p:cNvPr>
          <p:cNvSpPr/>
          <p:nvPr/>
        </p:nvSpPr>
        <p:spPr>
          <a:xfrm rot="5400000">
            <a:off x="4355409" y="2609073"/>
            <a:ext cx="3424154" cy="89602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3691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6006 w 10000"/>
              <a:gd name="connsiteY2" fmla="*/ 10000 h 10000"/>
              <a:gd name="connsiteX3" fmla="*/ 3691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6006" y="10000"/>
                </a:lnTo>
                <a:lnTo>
                  <a:pt x="3691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02372F7-D413-9FC4-0209-9727774E218E}"/>
              </a:ext>
            </a:extLst>
          </p:cNvPr>
          <p:cNvSpPr txBox="1"/>
          <p:nvPr/>
        </p:nvSpPr>
        <p:spPr>
          <a:xfrm>
            <a:off x="8112999" y="158946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AO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2AF1DCE-B294-C6D4-598D-9085327CCAFC}"/>
              </a:ext>
            </a:extLst>
          </p:cNvPr>
          <p:cNvSpPr txBox="1"/>
          <p:nvPr/>
        </p:nvSpPr>
        <p:spPr>
          <a:xfrm>
            <a:off x="7812275" y="3777339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IVC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748C389-D572-8870-5FC4-EA1F80FD900A}"/>
              </a:ext>
            </a:extLst>
          </p:cNvPr>
          <p:cNvSpPr txBox="1"/>
          <p:nvPr/>
        </p:nvSpPr>
        <p:spPr>
          <a:xfrm>
            <a:off x="9430319" y="2267953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AC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ECCC70E-783D-4D81-C984-4490FE9EE069}"/>
              </a:ext>
            </a:extLst>
          </p:cNvPr>
          <p:cNvSpPr txBox="1"/>
          <p:nvPr/>
        </p:nvSpPr>
        <p:spPr>
          <a:xfrm>
            <a:off x="6535823" y="5042143"/>
            <a:ext cx="51707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Filter X, Y, </a:t>
            </a:r>
            <a:r>
              <a:rPr lang="it-IT" sz="1400" dirty="0" err="1">
                <a:latin typeface="Lucida Bright" panose="02040602050505020304" pitchFamily="18" charset="77"/>
              </a:rPr>
              <a:t>Z</a:t>
            </a:r>
            <a:r>
              <a:rPr lang="it-IT" sz="1400" dirty="0">
                <a:latin typeface="Lucida Bright" panose="02040602050505020304" pitchFamily="18" charset="77"/>
              </a:rPr>
              <a:t> and </a:t>
            </a:r>
            <a:r>
              <a:rPr lang="it-IT" sz="1400" dirty="0" err="1">
                <a:latin typeface="Lucida Bright" panose="02040602050505020304" pitchFamily="18" charset="77"/>
              </a:rPr>
              <a:t>visually</a:t>
            </a:r>
            <a:r>
              <a:rPr lang="it-IT" sz="1400" dirty="0">
                <a:latin typeface="Lucida Bright" panose="02040602050505020304" pitchFamily="18" charset="77"/>
              </a:rPr>
              <a:t> compare</a:t>
            </a:r>
          </a:p>
          <a:p>
            <a:r>
              <a:rPr lang="it-IT" sz="1400" dirty="0" err="1">
                <a:latin typeface="Lucida Bright" panose="02040602050505020304" pitchFamily="18" charset="77"/>
              </a:rPr>
              <a:t>Choose</a:t>
            </a:r>
            <a:r>
              <a:rPr lang="it-IT" sz="1400" dirty="0">
                <a:latin typeface="Lucida Bright" panose="02040602050505020304" pitchFamily="18" charset="77"/>
              </a:rPr>
              <a:t> (MANUALLY) the </a:t>
            </a:r>
            <a:r>
              <a:rPr lang="it-IT" sz="1400" dirty="0" err="1">
                <a:latin typeface="Lucida Bright" panose="02040602050505020304" pitchFamily="18" charset="77"/>
              </a:rPr>
              <a:t>axis</a:t>
            </a:r>
            <a:r>
              <a:rPr lang="it-IT" sz="1400" dirty="0">
                <a:latin typeface="Lucida Bright" panose="02040602050505020304" pitchFamily="18" charset="77"/>
              </a:rPr>
              <a:t> with </a:t>
            </a:r>
            <a:r>
              <a:rPr lang="it-IT" sz="1400" dirty="0" err="1">
                <a:latin typeface="Lucida Bright" panose="02040602050505020304" pitchFamily="18" charset="77"/>
              </a:rPr>
              <a:t>clearest</a:t>
            </a:r>
            <a:r>
              <a:rPr lang="it-IT" sz="1400" dirty="0">
                <a:latin typeface="Lucida Bright" panose="02040602050505020304" pitchFamily="18" charset="77"/>
              </a:rPr>
              <a:t> SCG </a:t>
            </a:r>
            <a:r>
              <a:rPr lang="it-IT" sz="1400" dirty="0" err="1">
                <a:latin typeface="Lucida Bright" panose="02040602050505020304" pitchFamily="18" charset="77"/>
              </a:rPr>
              <a:t>morphology</a:t>
            </a:r>
            <a:r>
              <a:rPr lang="it-IT" sz="1400" dirty="0">
                <a:latin typeface="Lucida Bright" panose="02040602050505020304" pitchFamily="18" charset="77"/>
              </a:rPr>
              <a:t> (AO </a:t>
            </a:r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r>
              <a:rPr lang="it-IT" sz="1400" dirty="0">
                <a:latin typeface="Lucida Bright" panose="02040602050505020304" pitchFamily="18" charset="77"/>
              </a:rPr>
              <a:t>)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D72CB69-BAE8-30B4-A4E0-7E564C418F8C}"/>
              </a:ext>
            </a:extLst>
          </p:cNvPr>
          <p:cNvSpPr txBox="1"/>
          <p:nvPr/>
        </p:nvSpPr>
        <p:spPr>
          <a:xfrm>
            <a:off x="464595" y="4959649"/>
            <a:ext cx="43845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Band-pass filter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Lucida Bright" panose="02040602050505020304" pitchFamily="18" charset="77"/>
              </a:rPr>
              <a:t>Butterworth band-pass 5-25 Hz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Lucida Bright" panose="02040602050505020304" pitchFamily="18" charset="77"/>
              </a:rPr>
              <a:t>Removes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respiration</a:t>
            </a:r>
            <a:r>
              <a:rPr lang="it-IT" sz="1400" dirty="0">
                <a:latin typeface="Lucida Bright" panose="02040602050505020304" pitchFamily="18" charset="77"/>
              </a:rPr>
              <a:t>/motion (&lt;5 Hz)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Lucida Bright" panose="02040602050505020304" pitchFamily="18" charset="77"/>
              </a:rPr>
              <a:t>Removes</a:t>
            </a:r>
            <a:r>
              <a:rPr lang="it-IT" sz="1400" dirty="0">
                <a:latin typeface="Lucida Bright" panose="02040602050505020304" pitchFamily="18" charset="77"/>
              </a:rPr>
              <a:t> high-frequency noise (&gt;25 Hz)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6641130-3CA7-D308-45E1-BD9C3410930B}"/>
              </a:ext>
            </a:extLst>
          </p:cNvPr>
          <p:cNvSpPr txBox="1"/>
          <p:nvPr/>
        </p:nvSpPr>
        <p:spPr>
          <a:xfrm>
            <a:off x="6474729" y="1000788"/>
            <a:ext cx="3877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In this case, the </a:t>
            </a:r>
            <a:r>
              <a:rPr lang="it-IT" sz="1400" dirty="0" err="1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most</a:t>
            </a:r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 informative </a:t>
            </a:r>
            <a:r>
              <a:rPr lang="it-IT" sz="1400" dirty="0" err="1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axis</a:t>
            </a:r>
            <a:r>
              <a:rPr lang="it-IT" sz="1400" dirty="0">
                <a:solidFill>
                  <a:schemeClr val="accent5">
                    <a:lumMod val="75000"/>
                  </a:schemeClr>
                </a:solidFill>
                <a:latin typeface="Lucida Bright" panose="02040602050505020304" pitchFamily="18" charset="77"/>
              </a:rPr>
              <a:t> is Y</a:t>
            </a:r>
          </a:p>
        </p:txBody>
      </p:sp>
    </p:spTree>
    <p:extLst>
      <p:ext uri="{BB962C8B-B14F-4D97-AF65-F5344CB8AC3E}">
        <p14:creationId xmlns:p14="http://schemas.microsoft.com/office/powerpoint/2010/main" val="157683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0DBF-3F9F-0ED6-858D-3D5CF3E3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8F08BEA0-996C-2159-4EAC-496F0A58C0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6333227-B3A9-71B9-D0A1-3E27B0A496C8}"/>
              </a:ext>
            </a:extLst>
          </p:cNvPr>
          <p:cNvSpPr txBox="1"/>
          <p:nvPr/>
        </p:nvSpPr>
        <p:spPr>
          <a:xfrm>
            <a:off x="5610382" y="527320"/>
            <a:ext cx="6443067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Lucida Bright" panose="02040602050505020304" pitchFamily="18" charset="77"/>
              </a:rPr>
              <a:t>Band-pass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Find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peaks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Build template  Compute cross-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correlation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HR 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2C095EB-BD49-FED0-2745-0301EA50D11B}"/>
              </a:ext>
            </a:extLst>
          </p:cNvPr>
          <p:cNvSpPr txBox="1"/>
          <p:nvPr/>
        </p:nvSpPr>
        <p:spPr>
          <a:xfrm>
            <a:off x="5610382" y="227601"/>
            <a:ext cx="8045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egnaposto numero diapositiva 15">
            <a:extLst>
              <a:ext uri="{FF2B5EF4-FFF2-40B4-BE49-F238E27FC236}">
                <a16:creationId xmlns:a16="http://schemas.microsoft.com/office/drawing/2014/main" id="{9F5A61F8-FBD8-AE97-366F-48F29880F760}"/>
              </a:ext>
            </a:extLst>
          </p:cNvPr>
          <p:cNvSpPr txBox="1">
            <a:spLocks/>
          </p:cNvSpPr>
          <p:nvPr/>
        </p:nvSpPr>
        <p:spPr>
          <a:xfrm>
            <a:off x="11532217" y="63692"/>
            <a:ext cx="565266" cy="540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9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579130A-17BC-D685-630B-175926AC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65C813D-2026-F0CB-A341-47A24CD6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51" y="-236797"/>
            <a:ext cx="4078184" cy="1154758"/>
          </a:xfrm>
        </p:spPr>
        <p:txBody>
          <a:bodyPr>
            <a:normAutofit/>
          </a:bodyPr>
          <a:lstStyle/>
          <a:p>
            <a:r>
              <a:rPr lang="it-IT" sz="3000" dirty="0">
                <a:latin typeface="Garamond" panose="02020404030301010803" pitchFamily="18" charset="0"/>
              </a:rPr>
              <a:t>Heart Rate Detection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21E6D87-AFDF-9A2D-A934-373FD73A0BE9}"/>
              </a:ext>
            </a:extLst>
          </p:cNvPr>
          <p:cNvSpPr txBox="1"/>
          <p:nvPr/>
        </p:nvSpPr>
        <p:spPr>
          <a:xfrm>
            <a:off x="196090" y="621381"/>
            <a:ext cx="5226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Find</a:t>
            </a:r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 </a:t>
            </a:r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peaks</a:t>
            </a:r>
            <a:endParaRPr lang="it-IT" sz="2000" b="1" dirty="0">
              <a:solidFill>
                <a:schemeClr val="accent4"/>
              </a:solidFill>
              <a:latin typeface="Lucida Bright" panose="02040602050505020304" pitchFamily="18" charset="77"/>
            </a:endParaRPr>
          </a:p>
        </p:txBody>
      </p:sp>
      <p:cxnSp>
        <p:nvCxnSpPr>
          <p:cNvPr id="15" name="Connettore 1 30">
            <a:extLst>
              <a:ext uri="{FF2B5EF4-FFF2-40B4-BE49-F238E27FC236}">
                <a16:creationId xmlns:a16="http://schemas.microsoft.com/office/drawing/2014/main" id="{C1E6D96E-215B-6C63-DA48-C3B0F07A7E16}"/>
              </a:ext>
            </a:extLst>
          </p:cNvPr>
          <p:cNvCxnSpPr>
            <a:cxnSpLocks/>
          </p:cNvCxnSpPr>
          <p:nvPr/>
        </p:nvCxnSpPr>
        <p:spPr>
          <a:xfrm>
            <a:off x="196090" y="1046554"/>
            <a:ext cx="541429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95FAA61-6BCA-6536-E8E9-79BEC0158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89" y="2114011"/>
            <a:ext cx="5765707" cy="3749726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402949C-63DF-04E8-6D35-0D7D6D635C4E}"/>
              </a:ext>
            </a:extLst>
          </p:cNvPr>
          <p:cNvSpPr txBox="1"/>
          <p:nvPr/>
        </p:nvSpPr>
        <p:spPr>
          <a:xfrm>
            <a:off x="7409270" y="1867016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SCG (1x5982)</a:t>
            </a:r>
          </a:p>
        </p:txBody>
      </p:sp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91DF8EB9-2ABC-3DB9-7CFB-50505A2FB4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901732" y="2174793"/>
            <a:ext cx="365125" cy="365125"/>
          </a:xfrm>
          <a:prstGeom prst="rect">
            <a:avLst/>
          </a:prstGeom>
        </p:spPr>
      </p:pic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8CF428C4-C0C7-6DA1-E62A-3C81166A3FAE}"/>
              </a:ext>
            </a:extLst>
          </p:cNvPr>
          <p:cNvSpPr/>
          <p:nvPr/>
        </p:nvSpPr>
        <p:spPr>
          <a:xfrm>
            <a:off x="6727309" y="2557651"/>
            <a:ext cx="2713970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Physiological constraint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9841521-9AEC-236F-E249-1B2290D6C64D}"/>
              </a:ext>
            </a:extLst>
          </p:cNvPr>
          <p:cNvSpPr txBox="1"/>
          <p:nvPr/>
        </p:nvSpPr>
        <p:spPr>
          <a:xfrm>
            <a:off x="9434153" y="2587302"/>
            <a:ext cx="2585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Lucida Bright" panose="02040602050505020304" pitchFamily="18" charset="77"/>
              </a:rPr>
              <a:t>maxHR</a:t>
            </a:r>
            <a:r>
              <a:rPr lang="it-IT" sz="1200" dirty="0">
                <a:latin typeface="Lucida Bright" panose="02040602050505020304" pitchFamily="18" charset="77"/>
              </a:rPr>
              <a:t> 	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minPeakDistance</a:t>
            </a:r>
            <a:endParaRPr lang="it-IT" sz="1200" dirty="0">
              <a:latin typeface="Lucida Bright" panose="02040602050505020304" pitchFamily="18" charset="77"/>
              <a:sym typeface="Wingdings" pitchFamily="2" charset="2"/>
            </a:endParaRPr>
          </a:p>
          <a:p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120 bpm	 50 samples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C395E9CF-523E-C129-1D47-E4BE985E75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901732" y="3083549"/>
            <a:ext cx="365125" cy="365125"/>
          </a:xfrm>
          <a:prstGeom prst="rect">
            <a:avLst/>
          </a:prstGeom>
        </p:spPr>
      </p:pic>
      <p:sp>
        <p:nvSpPr>
          <p:cNvPr id="24" name="Rectangle: Rounded Corners 30">
            <a:extLst>
              <a:ext uri="{FF2B5EF4-FFF2-40B4-BE49-F238E27FC236}">
                <a16:creationId xmlns:a16="http://schemas.microsoft.com/office/drawing/2014/main" id="{6DC4F50B-D44C-6AB9-F972-1EFF498A0675}"/>
              </a:ext>
            </a:extLst>
          </p:cNvPr>
          <p:cNvSpPr/>
          <p:nvPr/>
        </p:nvSpPr>
        <p:spPr>
          <a:xfrm>
            <a:off x="6725330" y="3451731"/>
            <a:ext cx="2713970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Find peaks </a:t>
            </a:r>
          </a:p>
        </p:txBody>
      </p:sp>
      <p:pic>
        <p:nvPicPr>
          <p:cNvPr id="27" name="Elemento grafico 26">
            <a:extLst>
              <a:ext uri="{FF2B5EF4-FFF2-40B4-BE49-F238E27FC236}">
                <a16:creationId xmlns:a16="http://schemas.microsoft.com/office/drawing/2014/main" id="{445CA8D7-C94F-F6BD-3BD4-BB241C57B6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323307">
            <a:off x="7795052" y="3957309"/>
            <a:ext cx="365125" cy="365125"/>
          </a:xfrm>
          <a:prstGeom prst="rect">
            <a:avLst/>
          </a:prstGeom>
        </p:spPr>
      </p:pic>
      <p:pic>
        <p:nvPicPr>
          <p:cNvPr id="28" name="Elemento grafico 27">
            <a:extLst>
              <a:ext uri="{FF2B5EF4-FFF2-40B4-BE49-F238E27FC236}">
                <a16:creationId xmlns:a16="http://schemas.microsoft.com/office/drawing/2014/main" id="{17FAA523-0117-BCBA-5D50-869200C6A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682887">
            <a:off x="8069372" y="3957309"/>
            <a:ext cx="365125" cy="365125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0DBB05FD-67BB-7AEC-7452-EEC6416A5BAD}"/>
              </a:ext>
            </a:extLst>
          </p:cNvPr>
          <p:cNvSpPr txBox="1"/>
          <p:nvPr/>
        </p:nvSpPr>
        <p:spPr>
          <a:xfrm>
            <a:off x="7244050" y="4202727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endParaRPr lang="it-IT" sz="1400" dirty="0">
              <a:latin typeface="Lucida Bright" panose="02040602050505020304" pitchFamily="18" charset="77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138809F-760F-DE8A-DADE-33C6E17BBC2C}"/>
              </a:ext>
            </a:extLst>
          </p:cNvPr>
          <p:cNvSpPr txBox="1"/>
          <p:nvPr/>
        </p:nvSpPr>
        <p:spPr>
          <a:xfrm>
            <a:off x="8299806" y="4202727"/>
            <a:ext cx="529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locs</a:t>
            </a:r>
            <a:endParaRPr lang="it-IT" sz="1400" dirty="0">
              <a:latin typeface="Lucida Bright" panose="02040602050505020304" pitchFamily="18" charset="77"/>
            </a:endParaRPr>
          </a:p>
        </p:txBody>
      </p:sp>
      <p:sp>
        <p:nvSpPr>
          <p:cNvPr id="32" name="Rectangle: Rounded Corners 30">
            <a:extLst>
              <a:ext uri="{FF2B5EF4-FFF2-40B4-BE49-F238E27FC236}">
                <a16:creationId xmlns:a16="http://schemas.microsoft.com/office/drawing/2014/main" id="{78089ED9-7349-04AE-A221-34E428DBE4E1}"/>
              </a:ext>
            </a:extLst>
          </p:cNvPr>
          <p:cNvSpPr/>
          <p:nvPr/>
        </p:nvSpPr>
        <p:spPr>
          <a:xfrm>
            <a:off x="6982671" y="4792923"/>
            <a:ext cx="1195508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Threshold T</a:t>
            </a:r>
          </a:p>
        </p:txBody>
      </p:sp>
      <p:pic>
        <p:nvPicPr>
          <p:cNvPr id="33" name="Elemento grafico 32">
            <a:extLst>
              <a:ext uri="{FF2B5EF4-FFF2-40B4-BE49-F238E27FC236}">
                <a16:creationId xmlns:a16="http://schemas.microsoft.com/office/drawing/2014/main" id="{5D125A4C-1F63-2A95-65C9-E0C12A7CC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395644" y="4424834"/>
            <a:ext cx="365125" cy="365125"/>
          </a:xfrm>
          <a:prstGeom prst="rect">
            <a:avLst/>
          </a:prstGeom>
        </p:spPr>
      </p:pic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1B4D1F60-D37B-F080-F21A-B323849644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401940" y="5303244"/>
            <a:ext cx="365125" cy="365125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49B67B6-D1E7-1F3E-0740-03DFA2A14D06}"/>
              </a:ext>
            </a:extLst>
          </p:cNvPr>
          <p:cNvSpPr txBox="1"/>
          <p:nvPr/>
        </p:nvSpPr>
        <p:spPr>
          <a:xfrm>
            <a:off x="6832880" y="5557777"/>
            <a:ext cx="151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Keep </a:t>
            </a:r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r>
              <a:rPr lang="it-IT" sz="1400" dirty="0">
                <a:latin typeface="Lucida Bright" panose="02040602050505020304" pitchFamily="18" charset="77"/>
              </a:rPr>
              <a:t> &gt; T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85A8CED-C295-5481-7F46-AC1B92EE8AE1}"/>
              </a:ext>
            </a:extLst>
          </p:cNvPr>
          <p:cNvSpPr txBox="1"/>
          <p:nvPr/>
        </p:nvSpPr>
        <p:spPr>
          <a:xfrm>
            <a:off x="196089" y="1494530"/>
            <a:ext cx="3727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latin typeface="Lucida Bright" panose="02040602050505020304" pitchFamily="18" charset="77"/>
              </a:rPr>
              <a:t>Goal: </a:t>
            </a:r>
            <a:r>
              <a:rPr lang="it-IT" sz="1400" dirty="0" err="1">
                <a:latin typeface="Lucida Bright" panose="02040602050505020304" pitchFamily="18" charset="77"/>
              </a:rPr>
              <a:t>Detect</a:t>
            </a:r>
            <a:r>
              <a:rPr lang="it-IT" sz="1400" dirty="0">
                <a:latin typeface="Lucida Bright" panose="02040602050505020304" pitchFamily="18" charset="77"/>
              </a:rPr>
              <a:t> candidate AO </a:t>
            </a:r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r>
              <a:rPr lang="it-IT" sz="1400" dirty="0">
                <a:latin typeface="Lucida Bright" panose="02040602050505020304" pitchFamily="18" charset="77"/>
              </a:rPr>
              <a:t> on SCG</a:t>
            </a:r>
            <a:endParaRPr lang="it-IT" sz="1400" b="1" dirty="0">
              <a:latin typeface="Lucida Bright" panose="02040602050505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5329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50D4-7A1C-1802-D1C7-6DB72725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D4A7B2AD-76F2-9E00-4AE0-906D027672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9FD8EE8-85E0-1D9F-1676-AF64D4F09929}"/>
              </a:ext>
            </a:extLst>
          </p:cNvPr>
          <p:cNvSpPr txBox="1"/>
          <p:nvPr/>
        </p:nvSpPr>
        <p:spPr>
          <a:xfrm>
            <a:off x="5610382" y="527320"/>
            <a:ext cx="6443067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Lucida Bright" panose="02040602050505020304" pitchFamily="18" charset="77"/>
              </a:rPr>
              <a:t>Band-pass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Find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peaks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Build template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Compute cross-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correlation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HR 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18CF319-3035-6BCC-24DE-AB7FFF8D8BF2}"/>
              </a:ext>
            </a:extLst>
          </p:cNvPr>
          <p:cNvSpPr txBox="1"/>
          <p:nvPr/>
        </p:nvSpPr>
        <p:spPr>
          <a:xfrm>
            <a:off x="5610382" y="227601"/>
            <a:ext cx="8045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egnaposto numero diapositiva 15">
            <a:extLst>
              <a:ext uri="{FF2B5EF4-FFF2-40B4-BE49-F238E27FC236}">
                <a16:creationId xmlns:a16="http://schemas.microsoft.com/office/drawing/2014/main" id="{AA73FF31-32D6-03F4-F44C-E390C7F1DC41}"/>
              </a:ext>
            </a:extLst>
          </p:cNvPr>
          <p:cNvSpPr txBox="1">
            <a:spLocks/>
          </p:cNvSpPr>
          <p:nvPr/>
        </p:nvSpPr>
        <p:spPr>
          <a:xfrm>
            <a:off x="11416632" y="63692"/>
            <a:ext cx="680851" cy="540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10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A4A263A1-3670-C5BE-5670-4E9FD179C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FBC1093-DC00-6834-9D86-F989D30CD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51" y="-236797"/>
            <a:ext cx="4078184" cy="1154758"/>
          </a:xfrm>
        </p:spPr>
        <p:txBody>
          <a:bodyPr>
            <a:normAutofit/>
          </a:bodyPr>
          <a:lstStyle/>
          <a:p>
            <a:r>
              <a:rPr lang="it-IT" sz="3000" dirty="0">
                <a:latin typeface="Garamond" panose="02020404030301010803" pitchFamily="18" charset="0"/>
              </a:rPr>
              <a:t>Heart Rate Detection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4F0097-E700-EC5C-2895-82BA31634CBA}"/>
              </a:ext>
            </a:extLst>
          </p:cNvPr>
          <p:cNvSpPr txBox="1"/>
          <p:nvPr/>
        </p:nvSpPr>
        <p:spPr>
          <a:xfrm>
            <a:off x="196090" y="621381"/>
            <a:ext cx="5226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Build template &amp; Compute cross-</a:t>
            </a:r>
            <a:r>
              <a:rPr lang="it-IT" sz="2000" b="1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correlation</a:t>
            </a:r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 </a:t>
            </a:r>
          </a:p>
        </p:txBody>
      </p:sp>
      <p:cxnSp>
        <p:nvCxnSpPr>
          <p:cNvPr id="15" name="Connettore 1 30">
            <a:extLst>
              <a:ext uri="{FF2B5EF4-FFF2-40B4-BE49-F238E27FC236}">
                <a16:creationId xmlns:a16="http://schemas.microsoft.com/office/drawing/2014/main" id="{E5411184-BEB5-4A6D-DF72-F0579EA545DB}"/>
              </a:ext>
            </a:extLst>
          </p:cNvPr>
          <p:cNvCxnSpPr>
            <a:cxnSpLocks/>
          </p:cNvCxnSpPr>
          <p:nvPr/>
        </p:nvCxnSpPr>
        <p:spPr>
          <a:xfrm>
            <a:off x="196090" y="1358789"/>
            <a:ext cx="541429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81203231-859D-DCAF-FC2F-73B0235B4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89" y="2094242"/>
            <a:ext cx="5765706" cy="3769495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CBE4600-0ABA-364E-7E44-B6CD4022A536}"/>
              </a:ext>
            </a:extLst>
          </p:cNvPr>
          <p:cNvSpPr txBox="1"/>
          <p:nvPr/>
        </p:nvSpPr>
        <p:spPr>
          <a:xfrm>
            <a:off x="196089" y="1494530"/>
            <a:ext cx="4684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latin typeface="Lucida Bright" panose="02040602050505020304" pitchFamily="18" charset="77"/>
              </a:rPr>
              <a:t>Goal: </a:t>
            </a:r>
            <a:r>
              <a:rPr lang="it-IT" sz="1400" dirty="0">
                <a:latin typeface="Lucida Bright" panose="02040602050505020304" pitchFamily="18" charset="77"/>
              </a:rPr>
              <a:t>Peak detection </a:t>
            </a:r>
            <a:r>
              <a:rPr lang="it-IT" sz="1400" dirty="0" err="1">
                <a:latin typeface="Lucida Bright" panose="02040602050505020304" pitchFamily="18" charset="77"/>
              </a:rPr>
              <a:t>produces</a:t>
            </a:r>
            <a:r>
              <a:rPr lang="it-IT" sz="1400" dirty="0">
                <a:latin typeface="Lucida Bright" panose="02040602050505020304" pitchFamily="18" charset="77"/>
              </a:rPr>
              <a:t> false </a:t>
            </a:r>
            <a:r>
              <a:rPr lang="it-IT" sz="1400" dirty="0" err="1">
                <a:latin typeface="Lucida Bright" panose="02040602050505020304" pitchFamily="18" charset="77"/>
              </a:rPr>
              <a:t>positives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	 Validate </a:t>
            </a:r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r>
              <a:rPr lang="it-IT" sz="1400" dirty="0">
                <a:latin typeface="Lucida Bright" panose="02040602050505020304" pitchFamily="18" charset="77"/>
              </a:rPr>
              <a:t> using </a:t>
            </a:r>
            <a:r>
              <a:rPr lang="it-IT" sz="1400" dirty="0" err="1">
                <a:latin typeface="Lucida Bright" panose="02040602050505020304" pitchFamily="18" charset="77"/>
              </a:rPr>
              <a:t>morphology</a:t>
            </a:r>
            <a:r>
              <a:rPr lang="it-IT" sz="1400" dirty="0">
                <a:latin typeface="Lucida Bright" panose="02040602050505020304" pitchFamily="18" charset="77"/>
              </a:rPr>
              <a:t> consistency</a:t>
            </a:r>
            <a:endParaRPr lang="it-IT" sz="1400" b="1" dirty="0">
              <a:latin typeface="Lucida Bright" panose="02040602050505020304" pitchFamily="18" charset="77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ABE0019-9815-878D-C437-D1C48B9CE83C}"/>
              </a:ext>
            </a:extLst>
          </p:cNvPr>
          <p:cNvSpPr txBox="1"/>
          <p:nvPr/>
        </p:nvSpPr>
        <p:spPr>
          <a:xfrm>
            <a:off x="9114217" y="1289202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endParaRPr lang="it-IT" sz="1400" dirty="0">
              <a:latin typeface="Lucida Bright" panose="02040602050505020304" pitchFamily="18" charset="77"/>
            </a:endParaRPr>
          </a:p>
        </p:txBody>
      </p:sp>
      <p:sp>
        <p:nvSpPr>
          <p:cNvPr id="18" name="Rectangle: Rounded Corners 30">
            <a:extLst>
              <a:ext uri="{FF2B5EF4-FFF2-40B4-BE49-F238E27FC236}">
                <a16:creationId xmlns:a16="http://schemas.microsoft.com/office/drawing/2014/main" id="{A516D6B7-18E5-6E77-9855-057C7A7C1BCE}"/>
              </a:ext>
            </a:extLst>
          </p:cNvPr>
          <p:cNvSpPr/>
          <p:nvPr/>
        </p:nvSpPr>
        <p:spPr>
          <a:xfrm>
            <a:off x="6727309" y="1858403"/>
            <a:ext cx="2713970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Template construction</a:t>
            </a:r>
          </a:p>
        </p:txBody>
      </p:sp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CA6C8AF7-7EB2-29F0-1C17-DC13BB451B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901732" y="2384301"/>
            <a:ext cx="365125" cy="365125"/>
          </a:xfrm>
          <a:prstGeom prst="rect">
            <a:avLst/>
          </a:prstGeom>
        </p:spPr>
      </p:pic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F239850C-FAB3-43BC-FFE0-A17E43AC46BA}"/>
              </a:ext>
            </a:extLst>
          </p:cNvPr>
          <p:cNvSpPr/>
          <p:nvPr/>
        </p:nvSpPr>
        <p:spPr>
          <a:xfrm>
            <a:off x="8446844" y="3299743"/>
            <a:ext cx="2713970" cy="520969"/>
          </a:xfrm>
          <a:prstGeom prst="roundRect">
            <a:avLst>
              <a:gd name="adj" fmla="val 28862"/>
            </a:avLst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Lucida Bright" panose="02040602050505020304" pitchFamily="18" charset="77"/>
              </a:rPr>
              <a:t>Cross-correlation</a:t>
            </a:r>
          </a:p>
        </p:txBody>
      </p:sp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0393A4D1-9BBF-1B00-8340-546304760C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323307">
            <a:off x="9007096" y="1501544"/>
            <a:ext cx="365125" cy="365125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0BE400A8-23E5-BBC4-FF75-927FE870F0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682887">
            <a:off x="8361569" y="2938931"/>
            <a:ext cx="365125" cy="365125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47AC01B-D650-DCBE-EB24-43FF48B695DE}"/>
              </a:ext>
            </a:extLst>
          </p:cNvPr>
          <p:cNvSpPr txBox="1"/>
          <p:nvPr/>
        </p:nvSpPr>
        <p:spPr>
          <a:xfrm>
            <a:off x="7610355" y="2705028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template</a:t>
            </a:r>
          </a:p>
        </p:txBody>
      </p:sp>
      <p:sp>
        <p:nvSpPr>
          <p:cNvPr id="32" name="Elemento grafico 27">
            <a:extLst>
              <a:ext uri="{FF2B5EF4-FFF2-40B4-BE49-F238E27FC236}">
                <a16:creationId xmlns:a16="http://schemas.microsoft.com/office/drawing/2014/main" id="{35073192-688F-D0CB-0CB1-FD8638C64152}"/>
              </a:ext>
            </a:extLst>
          </p:cNvPr>
          <p:cNvSpPr/>
          <p:nvPr/>
        </p:nvSpPr>
        <p:spPr>
          <a:xfrm rot="5400000">
            <a:off x="8782903" y="2306441"/>
            <a:ext cx="1706790" cy="212990"/>
          </a:xfrm>
          <a:custGeom>
            <a:avLst/>
            <a:gdLst>
              <a:gd name="connsiteX0" fmla="*/ 115416 w 256480"/>
              <a:gd name="connsiteY0" fmla="*/ 212990 h 212989"/>
              <a:gd name="connsiteX1" fmla="*/ 159339 w 256480"/>
              <a:gd name="connsiteY1" fmla="*/ 121708 h 212989"/>
              <a:gd name="connsiteX2" fmla="*/ 0 w 256480"/>
              <a:gd name="connsiteY2" fmla="*/ 121708 h 212989"/>
              <a:gd name="connsiteX3" fmla="*/ 0 w 256480"/>
              <a:gd name="connsiteY3" fmla="*/ 91281 h 212989"/>
              <a:gd name="connsiteX4" fmla="*/ 159339 w 256480"/>
              <a:gd name="connsiteY4" fmla="*/ 91281 h 212989"/>
              <a:gd name="connsiteX5" fmla="*/ 115416 w 256480"/>
              <a:gd name="connsiteY5" fmla="*/ 0 h 212989"/>
              <a:gd name="connsiteX6" fmla="*/ 256481 w 256480"/>
              <a:gd name="connsiteY6" fmla="*/ 106495 h 212989"/>
              <a:gd name="connsiteX7" fmla="*/ 115416 w 256480"/>
              <a:gd name="connsiteY7" fmla="*/ 212990 h 212989"/>
              <a:gd name="connsiteX0" fmla="*/ 115416 w 256481"/>
              <a:gd name="connsiteY0" fmla="*/ 212990 h 212990"/>
              <a:gd name="connsiteX1" fmla="*/ 159339 w 256481"/>
              <a:gd name="connsiteY1" fmla="*/ 121708 h 212990"/>
              <a:gd name="connsiteX2" fmla="*/ 0 w 256481"/>
              <a:gd name="connsiteY2" fmla="*/ 121708 h 212990"/>
              <a:gd name="connsiteX3" fmla="*/ 0 w 256481"/>
              <a:gd name="connsiteY3" fmla="*/ 91281 h 212990"/>
              <a:gd name="connsiteX4" fmla="*/ 159339 w 256481"/>
              <a:gd name="connsiteY4" fmla="*/ 91281 h 212990"/>
              <a:gd name="connsiteX5" fmla="*/ 115416 w 256481"/>
              <a:gd name="connsiteY5" fmla="*/ 0 h 212990"/>
              <a:gd name="connsiteX6" fmla="*/ 256481 w 256481"/>
              <a:gd name="connsiteY6" fmla="*/ 106495 h 212990"/>
              <a:gd name="connsiteX7" fmla="*/ 115416 w 256481"/>
              <a:gd name="connsiteY7" fmla="*/ 212990 h 212990"/>
              <a:gd name="connsiteX0" fmla="*/ 463467 w 604532"/>
              <a:gd name="connsiteY0" fmla="*/ 212990 h 212990"/>
              <a:gd name="connsiteX1" fmla="*/ 507390 w 604532"/>
              <a:gd name="connsiteY1" fmla="*/ 121708 h 212990"/>
              <a:gd name="connsiteX2" fmla="*/ 348051 w 604532"/>
              <a:gd name="connsiteY2" fmla="*/ 121708 h 212990"/>
              <a:gd name="connsiteX3" fmla="*/ 348051 w 604532"/>
              <a:gd name="connsiteY3" fmla="*/ 91281 h 212990"/>
              <a:gd name="connsiteX4" fmla="*/ 507390 w 604532"/>
              <a:gd name="connsiteY4" fmla="*/ 91281 h 212990"/>
              <a:gd name="connsiteX5" fmla="*/ 463467 w 604532"/>
              <a:gd name="connsiteY5" fmla="*/ 0 h 212990"/>
              <a:gd name="connsiteX6" fmla="*/ 604532 w 604532"/>
              <a:gd name="connsiteY6" fmla="*/ 106495 h 212990"/>
              <a:gd name="connsiteX7" fmla="*/ 463467 w 604532"/>
              <a:gd name="connsiteY7" fmla="*/ 212990 h 212990"/>
              <a:gd name="connsiteX0" fmla="*/ 115416 w 256481"/>
              <a:gd name="connsiteY0" fmla="*/ 212990 h 212990"/>
              <a:gd name="connsiteX1" fmla="*/ 159339 w 256481"/>
              <a:gd name="connsiteY1" fmla="*/ 121708 h 212990"/>
              <a:gd name="connsiteX2" fmla="*/ 0 w 256481"/>
              <a:gd name="connsiteY2" fmla="*/ 121708 h 212990"/>
              <a:gd name="connsiteX3" fmla="*/ 0 w 256481"/>
              <a:gd name="connsiteY3" fmla="*/ 91281 h 212990"/>
              <a:gd name="connsiteX4" fmla="*/ 159339 w 256481"/>
              <a:gd name="connsiteY4" fmla="*/ 91281 h 212990"/>
              <a:gd name="connsiteX5" fmla="*/ 115416 w 256481"/>
              <a:gd name="connsiteY5" fmla="*/ 0 h 212990"/>
              <a:gd name="connsiteX6" fmla="*/ 256481 w 256481"/>
              <a:gd name="connsiteY6" fmla="*/ 106495 h 212990"/>
              <a:gd name="connsiteX7" fmla="*/ 115416 w 256481"/>
              <a:gd name="connsiteY7" fmla="*/ 212990 h 212990"/>
              <a:gd name="connsiteX0" fmla="*/ 975839 w 1116904"/>
              <a:gd name="connsiteY0" fmla="*/ 212990 h 212990"/>
              <a:gd name="connsiteX1" fmla="*/ 1019762 w 1116904"/>
              <a:gd name="connsiteY1" fmla="*/ 121708 h 212990"/>
              <a:gd name="connsiteX2" fmla="*/ 0 w 1116904"/>
              <a:gd name="connsiteY2" fmla="*/ 124883 h 212990"/>
              <a:gd name="connsiteX3" fmla="*/ 860423 w 1116904"/>
              <a:gd name="connsiteY3" fmla="*/ 91281 h 212990"/>
              <a:gd name="connsiteX4" fmla="*/ 1019762 w 1116904"/>
              <a:gd name="connsiteY4" fmla="*/ 91281 h 212990"/>
              <a:gd name="connsiteX5" fmla="*/ 975839 w 1116904"/>
              <a:gd name="connsiteY5" fmla="*/ 0 h 212990"/>
              <a:gd name="connsiteX6" fmla="*/ 1116904 w 1116904"/>
              <a:gd name="connsiteY6" fmla="*/ 106495 h 212990"/>
              <a:gd name="connsiteX7" fmla="*/ 975839 w 1116904"/>
              <a:gd name="connsiteY7" fmla="*/ 212990 h 212990"/>
              <a:gd name="connsiteX0" fmla="*/ 975841 w 1116906"/>
              <a:gd name="connsiteY0" fmla="*/ 212990 h 212990"/>
              <a:gd name="connsiteX1" fmla="*/ 1019764 w 1116906"/>
              <a:gd name="connsiteY1" fmla="*/ 121708 h 212990"/>
              <a:gd name="connsiteX2" fmla="*/ 2 w 1116906"/>
              <a:gd name="connsiteY2" fmla="*/ 124883 h 212990"/>
              <a:gd name="connsiteX3" fmla="*/ 0 w 1116906"/>
              <a:gd name="connsiteY3" fmla="*/ 88106 h 212990"/>
              <a:gd name="connsiteX4" fmla="*/ 1019764 w 1116906"/>
              <a:gd name="connsiteY4" fmla="*/ 91281 h 212990"/>
              <a:gd name="connsiteX5" fmla="*/ 975841 w 1116906"/>
              <a:gd name="connsiteY5" fmla="*/ 0 h 212990"/>
              <a:gd name="connsiteX6" fmla="*/ 1116906 w 1116906"/>
              <a:gd name="connsiteY6" fmla="*/ 106495 h 212990"/>
              <a:gd name="connsiteX7" fmla="*/ 975841 w 1116906"/>
              <a:gd name="connsiteY7" fmla="*/ 212990 h 212990"/>
              <a:gd name="connsiteX0" fmla="*/ 1290164 w 1431229"/>
              <a:gd name="connsiteY0" fmla="*/ 212990 h 212990"/>
              <a:gd name="connsiteX1" fmla="*/ 1334087 w 1431229"/>
              <a:gd name="connsiteY1" fmla="*/ 121708 h 212990"/>
              <a:gd name="connsiteX2" fmla="*/ 0 w 1431229"/>
              <a:gd name="connsiteY2" fmla="*/ 131233 h 212990"/>
              <a:gd name="connsiteX3" fmla="*/ 314323 w 1431229"/>
              <a:gd name="connsiteY3" fmla="*/ 88106 h 212990"/>
              <a:gd name="connsiteX4" fmla="*/ 1334087 w 1431229"/>
              <a:gd name="connsiteY4" fmla="*/ 91281 h 212990"/>
              <a:gd name="connsiteX5" fmla="*/ 1290164 w 1431229"/>
              <a:gd name="connsiteY5" fmla="*/ 0 h 212990"/>
              <a:gd name="connsiteX6" fmla="*/ 1431229 w 1431229"/>
              <a:gd name="connsiteY6" fmla="*/ 106495 h 212990"/>
              <a:gd name="connsiteX7" fmla="*/ 1290164 w 1431229"/>
              <a:gd name="connsiteY7" fmla="*/ 212990 h 212990"/>
              <a:gd name="connsiteX0" fmla="*/ 1290164 w 1431229"/>
              <a:gd name="connsiteY0" fmla="*/ 212990 h 212990"/>
              <a:gd name="connsiteX1" fmla="*/ 1334087 w 1431229"/>
              <a:gd name="connsiteY1" fmla="*/ 121708 h 212990"/>
              <a:gd name="connsiteX2" fmla="*/ 0 w 1431229"/>
              <a:gd name="connsiteY2" fmla="*/ 131233 h 212990"/>
              <a:gd name="connsiteX3" fmla="*/ 1 w 1431229"/>
              <a:gd name="connsiteY3" fmla="*/ 88106 h 212990"/>
              <a:gd name="connsiteX4" fmla="*/ 1334087 w 1431229"/>
              <a:gd name="connsiteY4" fmla="*/ 91281 h 212990"/>
              <a:gd name="connsiteX5" fmla="*/ 1290164 w 1431229"/>
              <a:gd name="connsiteY5" fmla="*/ 0 h 212990"/>
              <a:gd name="connsiteX6" fmla="*/ 1431229 w 1431229"/>
              <a:gd name="connsiteY6" fmla="*/ 106495 h 212990"/>
              <a:gd name="connsiteX7" fmla="*/ 1290164 w 1431229"/>
              <a:gd name="connsiteY7" fmla="*/ 212990 h 212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1229" h="212990">
                <a:moveTo>
                  <a:pt x="1290164" y="212990"/>
                </a:moveTo>
                <a:lnTo>
                  <a:pt x="1334087" y="121708"/>
                </a:lnTo>
                <a:lnTo>
                  <a:pt x="0" y="131233"/>
                </a:lnTo>
                <a:cubicBezTo>
                  <a:pt x="-1" y="118974"/>
                  <a:pt x="2" y="100365"/>
                  <a:pt x="1" y="88106"/>
                </a:cubicBezTo>
                <a:lnTo>
                  <a:pt x="1334087" y="91281"/>
                </a:lnTo>
                <a:lnTo>
                  <a:pt x="1290164" y="0"/>
                </a:lnTo>
                <a:lnTo>
                  <a:pt x="1431229" y="106495"/>
                </a:lnTo>
                <a:lnTo>
                  <a:pt x="1290164" y="212990"/>
                </a:lnTo>
                <a:close/>
              </a:path>
            </a:pathLst>
          </a:custGeom>
          <a:solidFill>
            <a:srgbClr val="7FB8E9"/>
          </a:solidFill>
          <a:ln w="31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pic>
        <p:nvPicPr>
          <p:cNvPr id="29" name="Elemento grafico 28">
            <a:extLst>
              <a:ext uri="{FF2B5EF4-FFF2-40B4-BE49-F238E27FC236}">
                <a16:creationId xmlns:a16="http://schemas.microsoft.com/office/drawing/2014/main" id="{4DF0989C-EE68-83FE-99B1-B95757C07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9438704" y="3792950"/>
            <a:ext cx="365125" cy="365125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93CF9FC-B1A2-4748-7141-9CD375576800}"/>
              </a:ext>
            </a:extLst>
          </p:cNvPr>
          <p:cNvSpPr txBox="1"/>
          <p:nvPr/>
        </p:nvSpPr>
        <p:spPr>
          <a:xfrm>
            <a:off x="8544131" y="4102826"/>
            <a:ext cx="2504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Keep </a:t>
            </a:r>
            <a:r>
              <a:rPr lang="it-IT" sz="1400" dirty="0" err="1">
                <a:latin typeface="Lucida Bright" panose="02040602050505020304" pitchFamily="18" charset="77"/>
              </a:rPr>
              <a:t>peaks</a:t>
            </a:r>
            <a:r>
              <a:rPr lang="it-IT" sz="1400" dirty="0">
                <a:latin typeface="Lucida Bright" panose="02040602050505020304" pitchFamily="18" charset="77"/>
              </a:rPr>
              <a:t> if |lag| &lt; 30 ms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55D4E8C-AA0C-95A3-073A-644679502967}"/>
              </a:ext>
            </a:extLst>
          </p:cNvPr>
          <p:cNvSpPr txBox="1"/>
          <p:nvPr/>
        </p:nvSpPr>
        <p:spPr>
          <a:xfrm>
            <a:off x="9598646" y="1807835"/>
            <a:ext cx="29856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Lucida Bright" panose="02040602050505020304" pitchFamily="18" charset="77"/>
              </a:rPr>
              <a:t>Extract a fixed window </a:t>
            </a:r>
            <a:r>
              <a:rPr lang="it-IT" sz="1100" dirty="0" err="1">
                <a:latin typeface="Lucida Bright" panose="02040602050505020304" pitchFamily="18" charset="77"/>
              </a:rPr>
              <a:t>around</a:t>
            </a:r>
            <a:r>
              <a:rPr lang="it-IT" sz="1100" dirty="0">
                <a:latin typeface="Lucida Bright" panose="02040602050505020304" pitchFamily="18" charset="77"/>
              </a:rPr>
              <a:t> </a:t>
            </a:r>
            <a:r>
              <a:rPr lang="it-IT" sz="1100" dirty="0" err="1">
                <a:latin typeface="Lucida Bright" panose="02040602050505020304" pitchFamily="18" charset="77"/>
              </a:rPr>
              <a:t>each</a:t>
            </a:r>
            <a:r>
              <a:rPr lang="it-IT" sz="1100" dirty="0">
                <a:latin typeface="Lucida Bright" panose="02040602050505020304" pitchFamily="18" charset="77"/>
              </a:rPr>
              <a:t> candidate peak</a:t>
            </a:r>
          </a:p>
          <a:p>
            <a:r>
              <a:rPr lang="it-IT" sz="1100" dirty="0">
                <a:latin typeface="Lucida Bright" panose="02040602050505020304" pitchFamily="18" charset="77"/>
              </a:rPr>
              <a:t>Average windows → SCG template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006D5600-13A3-4070-A4C8-1DCCB77EEBB1}"/>
              </a:ext>
            </a:extLst>
          </p:cNvPr>
          <p:cNvSpPr txBox="1"/>
          <p:nvPr/>
        </p:nvSpPr>
        <p:spPr>
          <a:xfrm>
            <a:off x="6054725" y="3191326"/>
            <a:ext cx="23120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latin typeface="Lucida Bright" panose="02040602050505020304" pitchFamily="18" charset="77"/>
              </a:rPr>
              <a:t>Compare </a:t>
            </a:r>
            <a:r>
              <a:rPr lang="it-IT" sz="1100" dirty="0" err="1">
                <a:latin typeface="Lucida Bright" panose="02040602050505020304" pitchFamily="18" charset="77"/>
              </a:rPr>
              <a:t>each</a:t>
            </a:r>
            <a:r>
              <a:rPr lang="it-IT" sz="1100" dirty="0">
                <a:latin typeface="Lucida Bright" panose="02040602050505020304" pitchFamily="18" charset="77"/>
              </a:rPr>
              <a:t> beat segment with the template</a:t>
            </a:r>
          </a:p>
          <a:p>
            <a:r>
              <a:rPr lang="it-IT" sz="1100" dirty="0" err="1">
                <a:latin typeface="Lucida Bright" panose="02040602050505020304" pitchFamily="18" charset="77"/>
              </a:rPr>
              <a:t>Correct</a:t>
            </a:r>
            <a:r>
              <a:rPr lang="it-IT" sz="1100" dirty="0">
                <a:latin typeface="Lucida Bright" panose="02040602050505020304" pitchFamily="18" charset="77"/>
              </a:rPr>
              <a:t> AO peak → best match </a:t>
            </a:r>
            <a:r>
              <a:rPr lang="it-IT" sz="1100" dirty="0" err="1">
                <a:latin typeface="Lucida Bright" panose="02040602050505020304" pitchFamily="18" charset="77"/>
              </a:rPr>
              <a:t>at</a:t>
            </a:r>
            <a:r>
              <a:rPr lang="it-IT" sz="1100" dirty="0">
                <a:latin typeface="Lucida Bright" panose="02040602050505020304" pitchFamily="18" charset="77"/>
              </a:rPr>
              <a:t> lag ≈ 0</a:t>
            </a:r>
          </a:p>
        </p:txBody>
      </p:sp>
    </p:spTree>
    <p:extLst>
      <p:ext uri="{BB962C8B-B14F-4D97-AF65-F5344CB8AC3E}">
        <p14:creationId xmlns:p14="http://schemas.microsoft.com/office/powerpoint/2010/main" val="3533635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BDD9-B84F-C8AE-A00A-37F18498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CDFF0B88-A282-1C7B-8AA8-FD05BEE1D2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E1307DB-0D27-54AD-CB83-15BB84BA01BA}"/>
              </a:ext>
            </a:extLst>
          </p:cNvPr>
          <p:cNvSpPr txBox="1"/>
          <p:nvPr/>
        </p:nvSpPr>
        <p:spPr>
          <a:xfrm>
            <a:off x="5610382" y="527320"/>
            <a:ext cx="6443067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Lucida Bright" panose="02040602050505020304" pitchFamily="18" charset="77"/>
              </a:rPr>
              <a:t>Band-pass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Find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peaks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Build template  Compute cross-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correlation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HR 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8C4ECDF-D58C-847A-B6E0-F9794B4DFA36}"/>
              </a:ext>
            </a:extLst>
          </p:cNvPr>
          <p:cNvSpPr txBox="1"/>
          <p:nvPr/>
        </p:nvSpPr>
        <p:spPr>
          <a:xfrm>
            <a:off x="5610382" y="227601"/>
            <a:ext cx="8045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Segnaposto numero diapositiva 15">
            <a:extLst>
              <a:ext uri="{FF2B5EF4-FFF2-40B4-BE49-F238E27FC236}">
                <a16:creationId xmlns:a16="http://schemas.microsoft.com/office/drawing/2014/main" id="{AFE34EE8-4524-7959-7935-0844B6DC29DC}"/>
              </a:ext>
            </a:extLst>
          </p:cNvPr>
          <p:cNvSpPr txBox="1">
            <a:spLocks/>
          </p:cNvSpPr>
          <p:nvPr/>
        </p:nvSpPr>
        <p:spPr>
          <a:xfrm>
            <a:off x="11416632" y="63692"/>
            <a:ext cx="680851" cy="540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11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103991B9-E3EC-8B17-57DC-9D4BE4EF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84147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A517FDA7-9402-1AC7-59FB-3CACBDFC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51" y="-236797"/>
            <a:ext cx="4078184" cy="1154758"/>
          </a:xfrm>
        </p:spPr>
        <p:txBody>
          <a:bodyPr>
            <a:normAutofit/>
          </a:bodyPr>
          <a:lstStyle/>
          <a:p>
            <a:r>
              <a:rPr lang="it-IT" sz="3000" dirty="0">
                <a:latin typeface="Garamond" panose="02020404030301010803" pitchFamily="18" charset="0"/>
              </a:rPr>
              <a:t>Heart Rate Detection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92B0DEE-ECF6-9126-65BC-D6437E895657}"/>
              </a:ext>
            </a:extLst>
          </p:cNvPr>
          <p:cNvSpPr txBox="1"/>
          <p:nvPr/>
        </p:nvSpPr>
        <p:spPr>
          <a:xfrm>
            <a:off x="196089" y="843348"/>
            <a:ext cx="5226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/>
                </a:solidFill>
                <a:latin typeface="Lucida Bright" panose="02040602050505020304" pitchFamily="18" charset="77"/>
              </a:rPr>
              <a:t>Compute Heart Rate</a:t>
            </a:r>
          </a:p>
        </p:txBody>
      </p:sp>
      <p:cxnSp>
        <p:nvCxnSpPr>
          <p:cNvPr id="15" name="Connettore 1 30">
            <a:extLst>
              <a:ext uri="{FF2B5EF4-FFF2-40B4-BE49-F238E27FC236}">
                <a16:creationId xmlns:a16="http://schemas.microsoft.com/office/drawing/2014/main" id="{D7DAEB0B-F268-0A93-0327-CA9593335615}"/>
              </a:ext>
            </a:extLst>
          </p:cNvPr>
          <p:cNvCxnSpPr>
            <a:cxnSpLocks/>
          </p:cNvCxnSpPr>
          <p:nvPr/>
        </p:nvCxnSpPr>
        <p:spPr>
          <a:xfrm>
            <a:off x="196090" y="1358789"/>
            <a:ext cx="541429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5BFA412-5AD8-8E32-091F-DAC5111D4D00}"/>
              </a:ext>
            </a:extLst>
          </p:cNvPr>
          <p:cNvSpPr txBox="1"/>
          <p:nvPr/>
        </p:nvSpPr>
        <p:spPr>
          <a:xfrm>
            <a:off x="196089" y="1494530"/>
            <a:ext cx="2412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latin typeface="Lucida Bright" panose="02040602050505020304" pitchFamily="18" charset="77"/>
              </a:rPr>
              <a:t>Goal: </a:t>
            </a:r>
            <a:r>
              <a:rPr lang="it-IT" sz="1400" dirty="0">
                <a:latin typeface="Lucida Bright" panose="02040602050505020304" pitchFamily="18" charset="77"/>
              </a:rPr>
              <a:t>Estimate Heart Rate</a:t>
            </a:r>
            <a:endParaRPr lang="it-IT" sz="1400" b="1" dirty="0">
              <a:latin typeface="Lucida Bright" panose="02040602050505020304" pitchFamily="18" charset="77"/>
            </a:endParaRPr>
          </a:p>
        </p:txBody>
      </p:sp>
      <p:pic>
        <p:nvPicPr>
          <p:cNvPr id="5" name="Immagine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ED21543D-9B59-45BF-3011-49F1C8AD5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67" y="2146941"/>
            <a:ext cx="5733168" cy="3728564"/>
          </a:xfrm>
          <a:prstGeom prst="rect">
            <a:avLst/>
          </a:prstGeom>
        </p:spPr>
      </p:pic>
      <p:sp>
        <p:nvSpPr>
          <p:cNvPr id="9" name="Parentesi quadra aperta 8">
            <a:extLst>
              <a:ext uri="{FF2B5EF4-FFF2-40B4-BE49-F238E27FC236}">
                <a16:creationId xmlns:a16="http://schemas.microsoft.com/office/drawing/2014/main" id="{E3950137-CA55-C239-880B-E8746D46DA99}"/>
              </a:ext>
            </a:extLst>
          </p:cNvPr>
          <p:cNvSpPr/>
          <p:nvPr/>
        </p:nvSpPr>
        <p:spPr>
          <a:xfrm rot="5400000">
            <a:off x="1338780" y="2161965"/>
            <a:ext cx="233426" cy="796042"/>
          </a:xfrm>
          <a:prstGeom prst="lef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001">
            <a:schemeClr val="dk1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0" name="Parentesi quadra aperta 9">
            <a:extLst>
              <a:ext uri="{FF2B5EF4-FFF2-40B4-BE49-F238E27FC236}">
                <a16:creationId xmlns:a16="http://schemas.microsoft.com/office/drawing/2014/main" id="{D52FF2BF-5C60-CDB8-DD6F-4891655F745B}"/>
              </a:ext>
            </a:extLst>
          </p:cNvPr>
          <p:cNvSpPr/>
          <p:nvPr/>
        </p:nvSpPr>
        <p:spPr>
          <a:xfrm rot="5400000">
            <a:off x="2087459" y="2082803"/>
            <a:ext cx="233426" cy="703483"/>
          </a:xfrm>
          <a:prstGeom prst="lef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001">
            <a:schemeClr val="dk1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3" name="Parentesi quadra aperta 12">
            <a:extLst>
              <a:ext uri="{FF2B5EF4-FFF2-40B4-BE49-F238E27FC236}">
                <a16:creationId xmlns:a16="http://schemas.microsoft.com/office/drawing/2014/main" id="{B3106C2A-635C-44F2-2965-E598B4EC0A7F}"/>
              </a:ext>
            </a:extLst>
          </p:cNvPr>
          <p:cNvSpPr/>
          <p:nvPr/>
        </p:nvSpPr>
        <p:spPr>
          <a:xfrm rot="5400000">
            <a:off x="2769165" y="2103497"/>
            <a:ext cx="233426" cy="662095"/>
          </a:xfrm>
          <a:prstGeom prst="lef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001">
            <a:schemeClr val="dk1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7" name="Parentesi quadra aperta 16">
            <a:extLst>
              <a:ext uri="{FF2B5EF4-FFF2-40B4-BE49-F238E27FC236}">
                <a16:creationId xmlns:a16="http://schemas.microsoft.com/office/drawing/2014/main" id="{8CE20E9D-6EBF-3B44-D819-BE07FA726165}"/>
              </a:ext>
            </a:extLst>
          </p:cNvPr>
          <p:cNvSpPr/>
          <p:nvPr/>
        </p:nvSpPr>
        <p:spPr>
          <a:xfrm rot="5400000">
            <a:off x="3470948" y="2058421"/>
            <a:ext cx="233426" cy="745806"/>
          </a:xfrm>
          <a:prstGeom prst="lef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001">
            <a:schemeClr val="dk1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9" name="Parentesi quadra aperta 18">
            <a:extLst>
              <a:ext uri="{FF2B5EF4-FFF2-40B4-BE49-F238E27FC236}">
                <a16:creationId xmlns:a16="http://schemas.microsoft.com/office/drawing/2014/main" id="{237CE5FC-491C-D39C-8EB4-37315F74E0EA}"/>
              </a:ext>
            </a:extLst>
          </p:cNvPr>
          <p:cNvSpPr/>
          <p:nvPr/>
        </p:nvSpPr>
        <p:spPr>
          <a:xfrm rot="5400000">
            <a:off x="4316718" y="1839576"/>
            <a:ext cx="233427" cy="950071"/>
          </a:xfrm>
          <a:prstGeom prst="lef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001">
            <a:schemeClr val="dk1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13DEF44-42AF-91B6-50BD-1A723E063A10}"/>
              </a:ext>
            </a:extLst>
          </p:cNvPr>
          <p:cNvSpPr txBox="1"/>
          <p:nvPr/>
        </p:nvSpPr>
        <p:spPr>
          <a:xfrm>
            <a:off x="6742588" y="1279086"/>
            <a:ext cx="45688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Lucida Bright" panose="02040602050505020304" pitchFamily="18" charset="77"/>
              </a:rPr>
              <a:t>AO-AO </a:t>
            </a:r>
            <a:r>
              <a:rPr lang="it-IT" sz="1400" dirty="0" err="1">
                <a:latin typeface="Lucida Bright" panose="02040602050505020304" pitchFamily="18" charset="77"/>
              </a:rPr>
              <a:t>interval</a:t>
            </a:r>
            <a:r>
              <a:rPr lang="it-IT" sz="1400" dirty="0">
                <a:latin typeface="Lucida Bright" panose="02040602050505020304" pitchFamily="18" charset="77"/>
              </a:rPr>
              <a:t> 		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400" dirty="0" err="1">
                <a:latin typeface="Lucida Bright" panose="02040602050505020304" pitchFamily="18" charset="77"/>
              </a:rPr>
              <a:t>cardiac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period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Instantaneous HR 	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400" dirty="0">
                <a:latin typeface="Lucida Bright" panose="02040602050505020304" pitchFamily="18" charset="77"/>
              </a:rPr>
              <a:t>60 / AO-AO </a:t>
            </a:r>
            <a:r>
              <a:rPr lang="it-IT" sz="1400" dirty="0" err="1">
                <a:latin typeface="Lucida Bright" panose="02040602050505020304" pitchFamily="18" charset="77"/>
              </a:rPr>
              <a:t>interval</a:t>
            </a:r>
            <a:endParaRPr lang="it-IT" sz="1400" dirty="0">
              <a:latin typeface="Lucida Bright" panose="02040602050505020304" pitchFamily="18" charset="77"/>
            </a:endParaRPr>
          </a:p>
          <a:p>
            <a:r>
              <a:rPr lang="it-IT" sz="1400" dirty="0">
                <a:latin typeface="Lucida Bright" panose="02040602050505020304" pitchFamily="18" charset="77"/>
              </a:rPr>
              <a:t>Mean HR 			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 mean of </a:t>
            </a:r>
            <a:r>
              <a:rPr lang="it-IT" sz="1400" dirty="0" err="1">
                <a:latin typeface="Lucida Bright" panose="02040602050505020304" pitchFamily="18" charset="77"/>
                <a:sym typeface="Wingdings" pitchFamily="2" charset="2"/>
              </a:rPr>
              <a:t>instantaneous</a:t>
            </a:r>
            <a:r>
              <a:rPr lang="it-IT" sz="1400" dirty="0">
                <a:latin typeface="Lucida Bright" panose="02040602050505020304" pitchFamily="18" charset="77"/>
                <a:sym typeface="Wingdings" pitchFamily="2" charset="2"/>
              </a:rPr>
              <a:t> HR</a:t>
            </a:r>
            <a:endParaRPr lang="it-IT" sz="1400" dirty="0">
              <a:latin typeface="Lucida Bright" panose="02040602050505020304" pitchFamily="18" charset="77"/>
            </a:endParaRP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012BE85B-7C10-A010-50F7-9A568D7A3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949" y="2146315"/>
            <a:ext cx="5522686" cy="3728565"/>
          </a:xfrm>
          <a:prstGeom prst="rect">
            <a:avLst/>
          </a:prstGeom>
        </p:spPr>
      </p:pic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728F0B40-22AA-13F1-8776-B63C3686114F}"/>
              </a:ext>
            </a:extLst>
          </p:cNvPr>
          <p:cNvCxnSpPr>
            <a:cxnSpLocks/>
          </p:cNvCxnSpPr>
          <p:nvPr/>
        </p:nvCxnSpPr>
        <p:spPr>
          <a:xfrm flipV="1">
            <a:off x="4908467" y="1702498"/>
            <a:ext cx="1834121" cy="497897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015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AFE2-269B-1521-9520-64C21185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BCE131-C810-5C3F-5EE3-FE57D69D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17" y="69511"/>
            <a:ext cx="4513509" cy="1127975"/>
          </a:xfrm>
        </p:spPr>
        <p:txBody>
          <a:bodyPr>
            <a:noAutofit/>
          </a:bodyPr>
          <a:lstStyle/>
          <a:p>
            <a:r>
              <a:rPr lang="it-IT" sz="3000" dirty="0">
                <a:latin typeface="Garamond" panose="02020404030301010803" pitchFamily="18" charset="0"/>
              </a:rPr>
              <a:t>Heart Rate Detection</a:t>
            </a:r>
            <a:br>
              <a:rPr lang="it-IT" sz="3000" dirty="0">
                <a:latin typeface="Garamond" panose="02020404030301010803" pitchFamily="18" charset="0"/>
              </a:rPr>
            </a:br>
            <a:r>
              <a:rPr lang="it-IT" sz="3000" b="1" dirty="0">
                <a:solidFill>
                  <a:schemeClr val="accent4"/>
                </a:solidFill>
                <a:latin typeface="Garamond" panose="02020404030301010803" pitchFamily="18" charset="0"/>
              </a:rPr>
              <a:t>Results</a:t>
            </a:r>
            <a:r>
              <a:rPr lang="it-IT" sz="3000" b="1" dirty="0"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C4D66108-A086-0C6B-A9FB-B0FD1AB468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7D821AC5-F225-365E-DB55-4EF278A3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685" y="63692"/>
            <a:ext cx="698798" cy="540051"/>
          </a:xfrm>
        </p:spPr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12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27" name="Segnaposto piè di pagina 3">
            <a:extLst>
              <a:ext uri="{FF2B5EF4-FFF2-40B4-BE49-F238E27FC236}">
                <a16:creationId xmlns:a16="http://schemas.microsoft.com/office/drawing/2014/main" id="{43E65C85-9D20-BC20-1142-2A84519DE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163" y="6492875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0BD9E6F8-23A2-552E-E665-C8E5C4142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078394"/>
              </p:ext>
            </p:extLst>
          </p:nvPr>
        </p:nvGraphicFramePr>
        <p:xfrm>
          <a:off x="1345890" y="1527857"/>
          <a:ext cx="9500220" cy="418997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83370">
                  <a:extLst>
                    <a:ext uri="{9D8B030D-6E8A-4147-A177-3AD203B41FA5}">
                      <a16:colId xmlns:a16="http://schemas.microsoft.com/office/drawing/2014/main" val="1352521286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2350932526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3739913571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666640165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2500558269"/>
                    </a:ext>
                  </a:extLst>
                </a:gridCol>
                <a:gridCol w="1583370">
                  <a:extLst>
                    <a:ext uri="{9D8B030D-6E8A-4147-A177-3AD203B41FA5}">
                      <a16:colId xmlns:a16="http://schemas.microsoft.com/office/drawing/2014/main" val="2668986411"/>
                    </a:ext>
                  </a:extLst>
                </a:gridCol>
              </a:tblGrid>
              <a:tr h="740781"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Slow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Fast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 err="1">
                          <a:latin typeface="Lucida Bright" panose="02040602050505020304" pitchFamily="18" charset="77"/>
                        </a:rPr>
                        <a:t>Spontaneous</a:t>
                      </a:r>
                      <a:endParaRPr lang="it-IT" sz="1400" dirty="0">
                        <a:latin typeface="Lucida Bright" panose="02040602050505020304" pitchFamily="18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Apnea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 err="1">
                          <a:latin typeface="Lucida Bright" panose="02040602050505020304" pitchFamily="18" charset="77"/>
                        </a:rPr>
                        <a:t>Movements</a:t>
                      </a:r>
                      <a:endParaRPr lang="it-IT" sz="1400" dirty="0">
                        <a:latin typeface="Lucida Bright" panose="02040602050505020304" pitchFamily="18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246033"/>
                  </a:ext>
                </a:extLst>
              </a:tr>
              <a:tr h="1149730"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Person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76.71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74.04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75.57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78.77 bpm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73.56 bpm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182613"/>
                  </a:ext>
                </a:extLst>
              </a:tr>
              <a:tr h="1149730"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Person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68.71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66.79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69.36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68.06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70.86 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16482"/>
                  </a:ext>
                </a:extLst>
              </a:tr>
              <a:tr h="1149730">
                <a:tc>
                  <a:txBody>
                    <a:bodyPr/>
                    <a:lstStyle/>
                    <a:p>
                      <a:pPr algn="ctr"/>
                      <a:endParaRPr lang="it-IT" sz="1400" dirty="0">
                        <a:latin typeface="Lucida Bright" panose="02040602050505020304" pitchFamily="18" charset="77"/>
                      </a:endParaRPr>
                    </a:p>
                    <a:p>
                      <a:pPr algn="ctr"/>
                      <a:r>
                        <a:rPr lang="it-IT" sz="1400" dirty="0">
                          <a:latin typeface="Lucida Bright" panose="02040602050505020304" pitchFamily="18" charset="77"/>
                        </a:rPr>
                        <a:t>Person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71.29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80.72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71.44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endParaRPr lang="it-IT" dirty="0">
                        <a:latin typeface="Lucida Bright" panose="02040602050505020304" pitchFamily="18" charset="77"/>
                      </a:endParaRP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71.17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Lucida Bright" panose="02040602050505020304" pitchFamily="18" charset="77"/>
                        </a:rPr>
                        <a:t>Z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  <a:r>
                        <a:rPr lang="it-IT" dirty="0" err="1">
                          <a:latin typeface="Lucida Bright" panose="02040602050505020304" pitchFamily="18" charset="77"/>
                        </a:rPr>
                        <a:t>axis</a:t>
                      </a:r>
                      <a:r>
                        <a:rPr lang="it-IT" dirty="0">
                          <a:latin typeface="Lucida Bright" panose="02040602050505020304" pitchFamily="18" charset="77"/>
                        </a:rPr>
                        <a:t> </a:t>
                      </a:r>
                    </a:p>
                    <a:p>
                      <a:r>
                        <a:rPr lang="it-IT" dirty="0">
                          <a:latin typeface="Lucida Bright" panose="02040602050505020304" pitchFamily="18" charset="77"/>
                        </a:rPr>
                        <a:t>76.14 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98468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CEF1F809-762C-BE99-4FE1-581FFC4D9C6F}"/>
              </a:ext>
            </a:extLst>
          </p:cNvPr>
          <p:cNvSpPr txBox="1"/>
          <p:nvPr/>
        </p:nvSpPr>
        <p:spPr>
          <a:xfrm>
            <a:off x="1345890" y="5777911"/>
            <a:ext cx="39966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Values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shown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as: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Most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informative </a:t>
            </a:r>
            <a:r>
              <a:rPr lang="it-IT" sz="1400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axis</a:t>
            </a:r>
            <a:r>
              <a:rPr lang="it-IT" sz="14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 / HR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B56F8E3-80B4-D800-FE3B-65E907097CCF}"/>
              </a:ext>
            </a:extLst>
          </p:cNvPr>
          <p:cNvSpPr txBox="1"/>
          <p:nvPr/>
        </p:nvSpPr>
        <p:spPr>
          <a:xfrm>
            <a:off x="5610382" y="527320"/>
            <a:ext cx="6443067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Lucida Bright" panose="02040602050505020304" pitchFamily="18" charset="77"/>
              </a:rPr>
              <a:t>Band-pass filter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Find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 err="1">
                <a:latin typeface="Lucida Bright" panose="02040602050505020304" pitchFamily="18" charset="77"/>
                <a:sym typeface="Wingdings" pitchFamily="2" charset="2"/>
              </a:rPr>
              <a:t>peaks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  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Build template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Compute cross-</a:t>
            </a:r>
            <a:r>
              <a:rPr lang="it-IT" sz="1200" dirty="0" err="1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correlation</a:t>
            </a:r>
            <a:r>
              <a:rPr lang="it-IT" sz="1200" dirty="0">
                <a:solidFill>
                  <a:schemeClr val="accent4"/>
                </a:solidFill>
                <a:latin typeface="Lucida Bright" panose="02040602050505020304" pitchFamily="18" charset="77"/>
                <a:sym typeface="Wingdings" pitchFamily="2" charset="2"/>
              </a:rPr>
              <a:t> </a:t>
            </a:r>
            <a:r>
              <a:rPr lang="it-IT" sz="1200" dirty="0">
                <a:latin typeface="Lucida Bright" panose="02040602050505020304" pitchFamily="18" charset="77"/>
                <a:sym typeface="Wingdings" pitchFamily="2" charset="2"/>
              </a:rPr>
              <a:t> HR </a:t>
            </a:r>
            <a:endParaRPr lang="it-IT" sz="1200" dirty="0">
              <a:latin typeface="Lucida Bright" panose="02040602050505020304" pitchFamily="18" charset="77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FB4904D-4E55-BD9D-A5F2-8CC8CE49E85E}"/>
              </a:ext>
            </a:extLst>
          </p:cNvPr>
          <p:cNvSpPr txBox="1"/>
          <p:nvPr/>
        </p:nvSpPr>
        <p:spPr>
          <a:xfrm>
            <a:off x="5610382" y="227601"/>
            <a:ext cx="8045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40000"/>
                    <a:lumOff val="60000"/>
                  </a:schemeClr>
                </a:solidFill>
                <a:latin typeface="Lucida Bright" panose="02040602050505020304" pitchFamily="18" charset="77"/>
              </a:rPr>
              <a:t>Pipeline</a:t>
            </a:r>
            <a:endParaRPr lang="it-IT" sz="12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129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2D1A5-17FC-B88A-A64D-F034A9DB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583F4A-C438-9F85-632E-5BB5A32CC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17" y="-230271"/>
            <a:ext cx="5868961" cy="1127975"/>
          </a:xfrm>
        </p:spPr>
        <p:txBody>
          <a:bodyPr>
            <a:noAutofit/>
          </a:bodyPr>
          <a:lstStyle/>
          <a:p>
            <a:r>
              <a:rPr lang="it-IT" sz="3000" dirty="0">
                <a:latin typeface="Garamond" panose="02020404030301010803" pitchFamily="18" charset="0"/>
              </a:rPr>
              <a:t>Apnea &amp; </a:t>
            </a:r>
            <a:r>
              <a:rPr lang="it-IT" sz="3000" dirty="0" err="1">
                <a:latin typeface="Garamond" panose="02020404030301010803" pitchFamily="18" charset="0"/>
              </a:rPr>
              <a:t>Movements</a:t>
            </a:r>
            <a:r>
              <a:rPr lang="it-IT" sz="3000" dirty="0">
                <a:latin typeface="Garamond" panose="02020404030301010803" pitchFamily="18" charset="0"/>
              </a:rPr>
              <a:t> – </a:t>
            </a:r>
            <a:r>
              <a:rPr lang="it-IT" sz="3000" dirty="0" err="1">
                <a:latin typeface="Garamond" panose="02020404030301010803" pitchFamily="18" charset="0"/>
              </a:rPr>
              <a:t>Limitations</a:t>
            </a:r>
            <a:endParaRPr lang="it-IT" sz="3000" b="1" dirty="0">
              <a:latin typeface="Garamond" panose="02020404030301010803" pitchFamily="18" charset="0"/>
            </a:endParaRPr>
          </a:p>
        </p:txBody>
      </p:sp>
      <p:pic>
        <p:nvPicPr>
          <p:cNvPr id="26" name="Immagine 25" descr="Immagine che contiene emblema, logo, simbolo, Marchio&#10;&#10;Descrizione generata automaticamente">
            <a:extLst>
              <a:ext uri="{FF2B5EF4-FFF2-40B4-BE49-F238E27FC236}">
                <a16:creationId xmlns:a16="http://schemas.microsoft.com/office/drawing/2014/main" id="{BE050888-31DF-3BDF-BC3C-A90B97978D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1" t="29896" r="12134" b="11554"/>
          <a:stretch/>
        </p:blipFill>
        <p:spPr>
          <a:xfrm>
            <a:off x="11311467" y="6033911"/>
            <a:ext cx="880533" cy="824089"/>
          </a:xfrm>
          <a:prstGeom prst="rect">
            <a:avLst/>
          </a:prstGeom>
        </p:spPr>
      </p:pic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C1318DFF-5461-5E34-12D1-4AAB947B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685" y="63692"/>
            <a:ext cx="698798" cy="540051"/>
          </a:xfrm>
        </p:spPr>
        <p:txBody>
          <a:bodyPr/>
          <a:lstStyle/>
          <a:p>
            <a:r>
              <a:rPr lang="it-IT" b="1" dirty="0">
                <a:solidFill>
                  <a:schemeClr val="tx1"/>
                </a:solidFill>
                <a:latin typeface="Lucida Bright" panose="02040602050505020304" pitchFamily="18" charset="77"/>
              </a:rPr>
              <a:t>13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/23</a:t>
            </a:r>
          </a:p>
        </p:txBody>
      </p:sp>
      <p:sp>
        <p:nvSpPr>
          <p:cNvPr id="27" name="Segnaposto piè di pagina 3">
            <a:extLst>
              <a:ext uri="{FF2B5EF4-FFF2-40B4-BE49-F238E27FC236}">
                <a16:creationId xmlns:a16="http://schemas.microsoft.com/office/drawing/2014/main" id="{D24F6A04-8607-9FB5-158A-CBD44247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8163" y="6492875"/>
            <a:ext cx="10515600" cy="365125"/>
          </a:xfrm>
        </p:spPr>
        <p:txBody>
          <a:bodyPr/>
          <a:lstStyle/>
          <a:p>
            <a:pPr algn="l"/>
            <a:r>
              <a:rPr lang="it-IT" dirty="0">
                <a:latin typeface="Lucida Bright" panose="02040602050505020304" pitchFamily="18" charset="77"/>
              </a:rPr>
              <a:t>Giulia Demme                    												     </a:t>
            </a:r>
            <a:r>
              <a:rPr lang="it-IT" dirty="0">
                <a:latin typeface="Garamond" panose="02020404030301010803" pitchFamily="18" charset="0"/>
              </a:rPr>
              <a:t>UNIVERSITA’ DEGLI STUDI DI MILANO</a:t>
            </a:r>
          </a:p>
        </p:txBody>
      </p:sp>
      <p:pic>
        <p:nvPicPr>
          <p:cNvPr id="7" name="Immagine 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1C5EDB1-AC35-EE38-DBD5-7C0912E52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251" y="3669051"/>
            <a:ext cx="4195216" cy="2776904"/>
          </a:xfrm>
          <a:prstGeom prst="rect">
            <a:avLst/>
          </a:prstGeom>
        </p:spPr>
      </p:pic>
      <p:pic>
        <p:nvPicPr>
          <p:cNvPr id="10" name="Immagine 9" descr="Immagine che contiene Diagramma, line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AE659F6E-5F47-E946-7398-8432560EE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63" y="683044"/>
            <a:ext cx="4195216" cy="2776904"/>
          </a:xfrm>
          <a:prstGeom prst="rect">
            <a:avLst/>
          </a:prstGeom>
        </p:spPr>
      </p:pic>
      <p:pic>
        <p:nvPicPr>
          <p:cNvPr id="12" name="Immagine 11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F9657722-3AA1-8C6F-9615-A1167FACF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688" y="683044"/>
            <a:ext cx="4195216" cy="2776904"/>
          </a:xfrm>
          <a:prstGeom prst="rect">
            <a:avLst/>
          </a:prstGeom>
        </p:spPr>
      </p:pic>
      <p:pic>
        <p:nvPicPr>
          <p:cNvPr id="14" name="Immagine 13" descr="Immagine che contiene Diagramma, diagramma, linea, testo&#10;&#10;Il contenuto generato dall'IA potrebbe non essere corretto.">
            <a:extLst>
              <a:ext uri="{FF2B5EF4-FFF2-40B4-BE49-F238E27FC236}">
                <a16:creationId xmlns:a16="http://schemas.microsoft.com/office/drawing/2014/main" id="{6B9AB2D1-2886-AC9B-9141-6EC55A7523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163" y="3669051"/>
            <a:ext cx="4195216" cy="2776904"/>
          </a:xfrm>
          <a:prstGeom prst="rect">
            <a:avLst/>
          </a:prstGeom>
        </p:spPr>
      </p:pic>
      <p:sp>
        <p:nvSpPr>
          <p:cNvPr id="15" name="Parentesi quadra aperta 14">
            <a:extLst>
              <a:ext uri="{FF2B5EF4-FFF2-40B4-BE49-F238E27FC236}">
                <a16:creationId xmlns:a16="http://schemas.microsoft.com/office/drawing/2014/main" id="{BF756827-3879-0854-DFA8-00C1576774A0}"/>
              </a:ext>
            </a:extLst>
          </p:cNvPr>
          <p:cNvSpPr/>
          <p:nvPr/>
        </p:nvSpPr>
        <p:spPr>
          <a:xfrm rot="5400000">
            <a:off x="2577049" y="721307"/>
            <a:ext cx="233426" cy="680059"/>
          </a:xfrm>
          <a:prstGeom prst="lef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001">
            <a:schemeClr val="dk1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1A59211-72F4-36CB-DA54-B5DF8F29CA4B}"/>
              </a:ext>
            </a:extLst>
          </p:cNvPr>
          <p:cNvSpPr txBox="1"/>
          <p:nvPr/>
        </p:nvSpPr>
        <p:spPr>
          <a:xfrm>
            <a:off x="2341742" y="694478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  <a:latin typeface="Lucida Bright" panose="02040602050505020304" pitchFamily="18" charset="77"/>
              </a:rPr>
              <a:t>apnea</a:t>
            </a:r>
          </a:p>
        </p:txBody>
      </p:sp>
      <p:sp>
        <p:nvSpPr>
          <p:cNvPr id="19" name="Parentesi quadra aperta 18">
            <a:extLst>
              <a:ext uri="{FF2B5EF4-FFF2-40B4-BE49-F238E27FC236}">
                <a16:creationId xmlns:a16="http://schemas.microsoft.com/office/drawing/2014/main" id="{D4CEF4D8-92CA-B8C1-6960-CECF99C9E289}"/>
              </a:ext>
            </a:extLst>
          </p:cNvPr>
          <p:cNvSpPr/>
          <p:nvPr/>
        </p:nvSpPr>
        <p:spPr>
          <a:xfrm rot="5400000">
            <a:off x="2478319" y="3715645"/>
            <a:ext cx="233426" cy="296335"/>
          </a:xfrm>
          <a:prstGeom prst="lef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001">
            <a:schemeClr val="dk1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C17B469-98D2-19D0-DC9A-871BFAAA41D1}"/>
              </a:ext>
            </a:extLst>
          </p:cNvPr>
          <p:cNvSpPr txBox="1"/>
          <p:nvPr/>
        </p:nvSpPr>
        <p:spPr>
          <a:xfrm>
            <a:off x="2743200" y="3672749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  <a:latin typeface="Lucida Bright" panose="02040602050505020304" pitchFamily="18" charset="77"/>
              </a:rPr>
              <a:t>movement</a:t>
            </a:r>
            <a:endParaRPr lang="it-IT" sz="1400" dirty="0">
              <a:solidFill>
                <a:srgbClr val="C00000"/>
              </a:solidFill>
              <a:latin typeface="Lucida Bright" panose="02040602050505020304" pitchFamily="18" charset="77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BD79555-3BA2-7E4E-EB80-BF4324A6C9FF}"/>
              </a:ext>
            </a:extLst>
          </p:cNvPr>
          <p:cNvSpPr txBox="1"/>
          <p:nvPr/>
        </p:nvSpPr>
        <p:spPr>
          <a:xfrm>
            <a:off x="7966364" y="1002255"/>
            <a:ext cx="986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  <a:latin typeface="Lucida Bright" panose="02040602050505020304" pitchFamily="18" charset="77"/>
              </a:rPr>
              <a:t>No </a:t>
            </a:r>
            <a:r>
              <a:rPr lang="it-IT" sz="1400" dirty="0" err="1">
                <a:solidFill>
                  <a:srgbClr val="C00000"/>
                </a:solidFill>
                <a:latin typeface="Lucida Bright" panose="02040602050505020304" pitchFamily="18" charset="77"/>
              </a:rPr>
              <a:t>peaks</a:t>
            </a:r>
            <a:endParaRPr lang="it-IT" sz="1400" dirty="0">
              <a:solidFill>
                <a:srgbClr val="C00000"/>
              </a:solidFill>
              <a:latin typeface="Lucida Bright" panose="02040602050505020304" pitchFamily="18" charset="77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9E0F3E7-4BDC-7CA7-6E92-94592A3A6D00}"/>
              </a:ext>
            </a:extLst>
          </p:cNvPr>
          <p:cNvSpPr txBox="1"/>
          <p:nvPr/>
        </p:nvSpPr>
        <p:spPr>
          <a:xfrm>
            <a:off x="7966364" y="4064147"/>
            <a:ext cx="1803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  <a:latin typeface="Lucida Bright" panose="02040602050505020304" pitchFamily="18" charset="77"/>
              </a:rPr>
              <a:t>False RR ≈ 31 bpm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7BACC9B-3210-83AA-22DD-7A19DD5016F6}"/>
              </a:ext>
            </a:extLst>
          </p:cNvPr>
          <p:cNvSpPr txBox="1"/>
          <p:nvPr/>
        </p:nvSpPr>
        <p:spPr>
          <a:xfrm>
            <a:off x="4801643" y="1178050"/>
            <a:ext cx="22257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solidFill>
                  <a:schemeClr val="accent4"/>
                </a:solidFill>
                <a:latin typeface="Lucida Bright" panose="02040602050505020304" pitchFamily="18" charset="77"/>
              </a:rPr>
              <a:t>Apnea</a:t>
            </a:r>
          </a:p>
          <a:p>
            <a:pPr algn="ctr"/>
            <a:r>
              <a:rPr lang="it-IT" sz="1400" dirty="0">
                <a:latin typeface="Lucida Bright" panose="02040602050505020304" pitchFamily="18" charset="77"/>
              </a:rPr>
              <a:t>No </a:t>
            </a:r>
            <a:r>
              <a:rPr lang="it-IT" sz="1400" dirty="0" err="1">
                <a:latin typeface="Lucida Bright" panose="02040602050505020304" pitchFamily="18" charset="77"/>
              </a:rPr>
              <a:t>respiratory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periodicity</a:t>
            </a:r>
            <a:endParaRPr lang="it-IT" sz="1400" dirty="0">
              <a:latin typeface="Lucida Bright" panose="02040602050505020304" pitchFamily="18" charset="77"/>
            </a:endParaRPr>
          </a:p>
          <a:p>
            <a:pPr marL="285750" indent="-285750" algn="ctr">
              <a:buFont typeface="Wingdings" pitchFamily="2" charset="2"/>
              <a:buChar char="à"/>
            </a:pPr>
            <a:r>
              <a:rPr lang="it-IT" sz="1400" dirty="0">
                <a:latin typeface="Lucida Bright" panose="02040602050505020304" pitchFamily="18" charset="77"/>
              </a:rPr>
              <a:t>RR undefined</a:t>
            </a:r>
          </a:p>
          <a:p>
            <a:pPr marL="285750" indent="-285750" algn="ctr">
              <a:buFont typeface="Wingdings" pitchFamily="2" charset="2"/>
              <a:buChar char="à"/>
            </a:pPr>
            <a:r>
              <a:rPr lang="it-IT" sz="1400" dirty="0">
                <a:latin typeface="Lucida Bright" panose="02040602050505020304" pitchFamily="18" charset="77"/>
              </a:rPr>
              <a:t>HR </a:t>
            </a:r>
            <a:r>
              <a:rPr lang="it-IT" sz="1400" dirty="0" err="1">
                <a:latin typeface="Lucida Bright" panose="02040602050505020304" pitchFamily="18" charset="77"/>
              </a:rPr>
              <a:t>estimation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remains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stable</a:t>
            </a:r>
            <a:endParaRPr lang="it-IT" sz="1400" dirty="0">
              <a:latin typeface="Lucida Bright" panose="02040602050505020304" pitchFamily="18" charset="77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F87E384-EBE5-96CC-941F-F78F5D760025}"/>
              </a:ext>
            </a:extLst>
          </p:cNvPr>
          <p:cNvSpPr txBox="1"/>
          <p:nvPr/>
        </p:nvSpPr>
        <p:spPr>
          <a:xfrm>
            <a:off x="4801642" y="4218035"/>
            <a:ext cx="22257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solidFill>
                  <a:schemeClr val="accent4"/>
                </a:solidFill>
                <a:latin typeface="Lucida Bright" panose="02040602050505020304" pitchFamily="18" charset="77"/>
              </a:rPr>
              <a:t>Movements</a:t>
            </a:r>
            <a:endParaRPr lang="it-IT" sz="1400" dirty="0">
              <a:solidFill>
                <a:schemeClr val="accent4"/>
              </a:solidFill>
              <a:latin typeface="Lucida Bright" panose="02040602050505020304" pitchFamily="18" charset="77"/>
            </a:endParaRPr>
          </a:p>
          <a:p>
            <a:pPr algn="ctr"/>
            <a:r>
              <a:rPr lang="it-IT" sz="1400" dirty="0" err="1">
                <a:latin typeface="Lucida Bright" panose="02040602050505020304" pitchFamily="18" charset="77"/>
              </a:rPr>
              <a:t>Spurious</a:t>
            </a:r>
            <a:r>
              <a:rPr lang="it-IT" sz="1400" dirty="0">
                <a:latin typeface="Lucida Bright" panose="02040602050505020304" pitchFamily="18" charset="77"/>
              </a:rPr>
              <a:t> </a:t>
            </a:r>
            <a:r>
              <a:rPr lang="it-IT" sz="1400" dirty="0" err="1">
                <a:latin typeface="Lucida Bright" panose="02040602050505020304" pitchFamily="18" charset="77"/>
              </a:rPr>
              <a:t>periodicity</a:t>
            </a:r>
            <a:endParaRPr lang="it-IT" sz="1400" dirty="0">
              <a:latin typeface="Lucida Bright" panose="02040602050505020304" pitchFamily="18" charset="77"/>
            </a:endParaRPr>
          </a:p>
          <a:p>
            <a:pPr marL="285750" indent="-285750" algn="ctr">
              <a:buFont typeface="Wingdings" pitchFamily="2" charset="2"/>
              <a:buChar char="à"/>
            </a:pPr>
            <a:r>
              <a:rPr lang="it-IT" sz="1400" dirty="0">
                <a:latin typeface="Lucida Bright" panose="02040602050505020304" pitchFamily="18" charset="77"/>
              </a:rPr>
              <a:t>False RR </a:t>
            </a:r>
            <a:r>
              <a:rPr lang="it-IT" sz="1400" dirty="0" err="1">
                <a:latin typeface="Lucida Bright" panose="02040602050505020304" pitchFamily="18" charset="77"/>
              </a:rPr>
              <a:t>estimates</a:t>
            </a:r>
            <a:endParaRPr lang="it-IT" sz="1400" dirty="0">
              <a:latin typeface="Lucida Bright" panose="02040602050505020304" pitchFamily="18" charset="77"/>
            </a:endParaRPr>
          </a:p>
          <a:p>
            <a:pPr marL="285750" indent="-285750" algn="ctr">
              <a:buFont typeface="Wingdings" pitchFamily="2" charset="2"/>
              <a:buChar char="à"/>
            </a:pPr>
            <a:r>
              <a:rPr lang="it-IT" sz="1400" dirty="0">
                <a:latin typeface="Lucida Bright" panose="02040602050505020304" pitchFamily="18" charset="77"/>
              </a:rPr>
              <a:t>HR </a:t>
            </a:r>
            <a:r>
              <a:rPr lang="it-IT" sz="1400" dirty="0" err="1">
                <a:latin typeface="Lucida Bright" panose="02040602050505020304" pitchFamily="18" charset="77"/>
              </a:rPr>
              <a:t>robust</a:t>
            </a:r>
            <a:r>
              <a:rPr lang="it-IT" sz="1400" dirty="0">
                <a:latin typeface="Lucida Bright" panose="02040602050505020304" pitchFamily="18" charset="77"/>
              </a:rPr>
              <a:t> to moderate motion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CF87A23-D671-1092-13AA-E53D4915EEF5}"/>
              </a:ext>
            </a:extLst>
          </p:cNvPr>
          <p:cNvSpPr txBox="1"/>
          <p:nvPr/>
        </p:nvSpPr>
        <p:spPr>
          <a:xfrm>
            <a:off x="8518715" y="439026"/>
            <a:ext cx="2792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../data/person2/person2_apnea.csv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8056DE0-6818-62DF-7C53-DD57A0CEC353}"/>
              </a:ext>
            </a:extLst>
          </p:cNvPr>
          <p:cNvSpPr txBox="1"/>
          <p:nvPr/>
        </p:nvSpPr>
        <p:spPr>
          <a:xfrm>
            <a:off x="8183052" y="3410726"/>
            <a:ext cx="3180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Lucida Bright" panose="02040602050505020304" pitchFamily="18" charset="77"/>
              </a:rPr>
              <a:t>../data/person1/person1_movements.csv</a:t>
            </a:r>
          </a:p>
        </p:txBody>
      </p:sp>
    </p:spTree>
    <p:extLst>
      <p:ext uri="{BB962C8B-B14F-4D97-AF65-F5344CB8AC3E}">
        <p14:creationId xmlns:p14="http://schemas.microsoft.com/office/powerpoint/2010/main" val="4016904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Policromia, spazio, luce, stella&#10;&#10;Descrizione generata automaticamente">
            <a:extLst>
              <a:ext uri="{FF2B5EF4-FFF2-40B4-BE49-F238E27FC236}">
                <a16:creationId xmlns:a16="http://schemas.microsoft.com/office/drawing/2014/main" id="{D0BD6E60-5E74-A7F3-3C3F-37445389B6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89930" cy="685916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CA7DF3F-0D57-9894-DA4C-73867681738A}"/>
              </a:ext>
            </a:extLst>
          </p:cNvPr>
          <p:cNvSpPr txBox="1"/>
          <p:nvPr/>
        </p:nvSpPr>
        <p:spPr>
          <a:xfrm>
            <a:off x="4823077" y="1596757"/>
            <a:ext cx="25437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400" dirty="0">
                <a:latin typeface="Garamond" panose="02020404030301010803" pitchFamily="18" charset="0"/>
              </a:rPr>
              <a:t>Thank you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0F178908-D28D-3064-AE26-5E2D1A542F4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77954" y="5238045"/>
            <a:ext cx="1234017" cy="1234017"/>
          </a:xfrm>
          <a:prstGeom prst="rect">
            <a:avLst/>
          </a:prstGeom>
        </p:spPr>
      </p:pic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B8E4D8A7-209C-C26A-3349-66F9D750F9FD}"/>
              </a:ext>
            </a:extLst>
          </p:cNvPr>
          <p:cNvCxnSpPr>
            <a:cxnSpLocks/>
          </p:cNvCxnSpPr>
          <p:nvPr/>
        </p:nvCxnSpPr>
        <p:spPr>
          <a:xfrm>
            <a:off x="2078566" y="2619022"/>
            <a:ext cx="7902222" cy="0"/>
          </a:xfrm>
          <a:prstGeom prst="line">
            <a:avLst/>
          </a:prstGeom>
          <a:ln>
            <a:solidFill>
              <a:srgbClr val="7FB8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6A9C586-924C-DFA7-EF33-6422D960E8E3}"/>
              </a:ext>
            </a:extLst>
          </p:cNvPr>
          <p:cNvSpPr txBox="1"/>
          <p:nvPr/>
        </p:nvSpPr>
        <p:spPr>
          <a:xfrm>
            <a:off x="1712194" y="2882813"/>
            <a:ext cx="9183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https://github.com/</a:t>
            </a:r>
            <a:r>
              <a:rPr lang="it-IT" dirty="0" err="1">
                <a:solidFill>
                  <a:srgbClr val="7FB8E9"/>
                </a:solidFill>
                <a:latin typeface="Lucida Bright" panose="02040602050505020304" pitchFamily="18" charset="77"/>
              </a:rPr>
              <a:t>GiuliaDemme</a:t>
            </a:r>
            <a:r>
              <a:rPr lang="it-IT" dirty="0">
                <a:solidFill>
                  <a:srgbClr val="7FB8E9"/>
                </a:solidFill>
                <a:latin typeface="Lucida Bright" panose="02040602050505020304" pitchFamily="18" charset="77"/>
              </a:rPr>
              <a:t>/VariationalEncoderForHeartBeatClassification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226805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">
      <a:dk1>
        <a:srgbClr val="003366"/>
      </a:dk1>
      <a:lt1>
        <a:srgbClr val="FFFFFF"/>
      </a:lt1>
      <a:dk2>
        <a:srgbClr val="CCCCCC"/>
      </a:dk2>
      <a:lt2>
        <a:srgbClr val="999999"/>
      </a:lt2>
      <a:accent1>
        <a:srgbClr val="212121"/>
      </a:accent1>
      <a:accent2>
        <a:srgbClr val="FEFF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3284</TotalTime>
  <Words>1597</Words>
  <Application>Microsoft Macintosh PowerPoint</Application>
  <PresentationFormat>Widescreen</PresentationFormat>
  <Paragraphs>360</Paragraphs>
  <Slides>15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Garamond</vt:lpstr>
      <vt:lpstr>Lucida Bright</vt:lpstr>
      <vt:lpstr>Wingdings</vt:lpstr>
      <vt:lpstr>Tema di Office</vt:lpstr>
      <vt:lpstr>Accelerometer-based Respiratory Rate and Heart Rate Detection</vt:lpstr>
      <vt:lpstr>Overview</vt:lpstr>
      <vt:lpstr>Preprocessing</vt:lpstr>
      <vt:lpstr>Respiration Rate Detection</vt:lpstr>
      <vt:lpstr>Respiration Rate Detection</vt:lpstr>
      <vt:lpstr>Respiration Rate Detection</vt:lpstr>
      <vt:lpstr>Respiration Rate Detection Results </vt:lpstr>
      <vt:lpstr>Heart Rate Detection</vt:lpstr>
      <vt:lpstr>Heart Rate Detection</vt:lpstr>
      <vt:lpstr>Heart Rate Detection</vt:lpstr>
      <vt:lpstr>Heart Rate Detection</vt:lpstr>
      <vt:lpstr>Heart Rate Detection</vt:lpstr>
      <vt:lpstr>Heart Rate Detection Results </vt:lpstr>
      <vt:lpstr>Apnea &amp; Movements – Limitations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Classificazione di suoni cardiaci mediante l’uso  di Auto-Encoder Variazionale</dc:title>
  <dc:creator>Giulia Demme</dc:creator>
  <cp:lastModifiedBy>Giulia Demme</cp:lastModifiedBy>
  <cp:revision>7</cp:revision>
  <dcterms:created xsi:type="dcterms:W3CDTF">2024-03-27T10:45:12Z</dcterms:created>
  <dcterms:modified xsi:type="dcterms:W3CDTF">2026-01-04T09:19:38Z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Tema di Office:8</vt:lpwstr>
  </property>
  <property fmtid="{D5CDD505-2E9C-101B-9397-08002B2CF9AE}" pid="3" name="ClassificationContentMarkingHeaderText">
    <vt:lpwstr>documento redatto da Università degli Studi di Milano</vt:lpwstr>
  </property>
</Properties>
</file>